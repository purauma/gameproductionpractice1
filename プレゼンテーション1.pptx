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4" r:id="rId5"/>
    <p:sldId id="265" r:id="rId6"/>
    <p:sldId id="260" r:id="rId7"/>
    <p:sldId id="261" r:id="rId8"/>
    <p:sldId id="262" r:id="rId9"/>
    <p:sldId id="263"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67" d="100"/>
          <a:sy n="67" d="100"/>
        </p:scale>
        <p:origin x="132"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3CFD31-F4EE-4293-8C50-3390EAC8AF7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1076540-55B0-4037-B9C3-A5D0AB91C3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551CA33-81B8-4A0C-8F97-691DEA12E993}"/>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5" name="フッター プレースホルダー 4">
            <a:extLst>
              <a:ext uri="{FF2B5EF4-FFF2-40B4-BE49-F238E27FC236}">
                <a16:creationId xmlns:a16="http://schemas.microsoft.com/office/drawing/2014/main" id="{05072A48-B1A8-439C-BBB7-B52DB2744AB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D16FE0-64ED-4ECF-8D3B-0AD39EF3873F}"/>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1281750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73D144-1A7F-4CBD-B71A-4AFA8DE4B68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8EEE27D-C84C-404E-BF09-2F471F9D8CD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D95B50-29FC-4D44-A171-D59AAEBE7731}"/>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5" name="フッター プレースホルダー 4">
            <a:extLst>
              <a:ext uri="{FF2B5EF4-FFF2-40B4-BE49-F238E27FC236}">
                <a16:creationId xmlns:a16="http://schemas.microsoft.com/office/drawing/2014/main" id="{D6ABC3F7-5848-44D2-977D-9C4C523081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883CAC1-FA0B-49A8-A5FD-F2220FC50531}"/>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2993367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CB7145-019B-4E06-8A3B-8E768029AFC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03DC214-C94B-4885-A598-F99683038F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0608B7D-4EEB-42AE-9F1E-A64F24D17714}"/>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5" name="フッター プレースホルダー 4">
            <a:extLst>
              <a:ext uri="{FF2B5EF4-FFF2-40B4-BE49-F238E27FC236}">
                <a16:creationId xmlns:a16="http://schemas.microsoft.com/office/drawing/2014/main" id="{6016CD92-FD61-4F45-8E74-CEF1D614EA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C1476A-1B16-4880-A1E7-C7F7BF88C340}"/>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586036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45051B-49EA-4F3E-89FC-DEBC196C0EA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7323863-DA02-47D1-A9A6-FD5B2E05E39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4B433B3-621E-4E68-AF79-FADE4D10FD5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73B31AE-9064-4E24-88F3-4C3DBDCA9559}"/>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6" name="フッター プレースホルダー 5">
            <a:extLst>
              <a:ext uri="{FF2B5EF4-FFF2-40B4-BE49-F238E27FC236}">
                <a16:creationId xmlns:a16="http://schemas.microsoft.com/office/drawing/2014/main" id="{AF6D2D43-5D32-43B9-9587-A7C700AF1E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AEC6D4A-651C-445D-B800-9643B054B868}"/>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1817183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779747-3A3D-4C40-8E05-A639576F92B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288C61C-B301-4E11-AE3F-F60B471A8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0A60AE3-75E8-4AF0-AFF6-E1E7A8BF05F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EA240ED-3A0F-4CB0-8908-567F711A11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5C44E88-99F5-450D-8E85-4E83316DEFF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3EEDA02-54FC-4639-8FDB-AA7E33A5EDBE}"/>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8" name="フッター プレースホルダー 7">
            <a:extLst>
              <a:ext uri="{FF2B5EF4-FFF2-40B4-BE49-F238E27FC236}">
                <a16:creationId xmlns:a16="http://schemas.microsoft.com/office/drawing/2014/main" id="{055AD928-0E6D-4DF6-87C6-91E4307FE28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7C7FB93-DFF3-4FB6-BE47-891F4E7FC86A}"/>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2287645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B4E31A-D152-4B38-B0B2-614BC68981F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E7CC7BA-A2CF-405B-8A99-455F7C6FF774}"/>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4" name="フッター プレースホルダー 3">
            <a:extLst>
              <a:ext uri="{FF2B5EF4-FFF2-40B4-BE49-F238E27FC236}">
                <a16:creationId xmlns:a16="http://schemas.microsoft.com/office/drawing/2014/main" id="{B0F7A341-2543-4CAD-B0D9-476414B2802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8EBEB83-9B02-4FC6-992D-00189BAC191C}"/>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886564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D9A9364-21AE-4C6F-8A89-14D31EED6BAB}"/>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3" name="フッター プレースホルダー 2">
            <a:extLst>
              <a:ext uri="{FF2B5EF4-FFF2-40B4-BE49-F238E27FC236}">
                <a16:creationId xmlns:a16="http://schemas.microsoft.com/office/drawing/2014/main" id="{9101BF19-2F35-4E64-B7CB-439C7DC06A7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6A0944B-B485-4A6F-B895-387CB106AE5E}"/>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1619305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CB0E70-AF41-41A9-81AA-643A5DCEC80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27FC64C-86B6-45B5-BD21-67AED52679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4B443A5-AD5B-4401-A74D-2598FB61E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2E503CA-45AA-4373-9571-CF0D36479B0A}"/>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6" name="フッター プレースホルダー 5">
            <a:extLst>
              <a:ext uri="{FF2B5EF4-FFF2-40B4-BE49-F238E27FC236}">
                <a16:creationId xmlns:a16="http://schemas.microsoft.com/office/drawing/2014/main" id="{9F1878DE-7564-4D86-BA71-D86C1A12BC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C33F745-0AAC-44B3-BE09-4AFCDD6D5EED}"/>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3985128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53F73E-27AD-4610-BCB6-2B8A559A1D4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B27D201-DF6B-4BE9-9B3F-E6108518DF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4F66F56-2A35-47A3-A366-E2F08BF887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58FE584-8AA5-48A6-80DF-B641A240EC14}"/>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6" name="フッター プレースホルダー 5">
            <a:extLst>
              <a:ext uri="{FF2B5EF4-FFF2-40B4-BE49-F238E27FC236}">
                <a16:creationId xmlns:a16="http://schemas.microsoft.com/office/drawing/2014/main" id="{3509B776-D069-4EF6-B144-7F0C263165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C2DE1B2-5B37-4B95-9C7B-53DF1716058A}"/>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143137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E94C29-F456-489C-95EC-86AB0AB5118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81F3D6F-4758-456B-93F1-6FF8221574A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1E14B9E-EC8F-4512-93E2-A13EB0C437C1}"/>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5" name="フッター プレースホルダー 4">
            <a:extLst>
              <a:ext uri="{FF2B5EF4-FFF2-40B4-BE49-F238E27FC236}">
                <a16:creationId xmlns:a16="http://schemas.microsoft.com/office/drawing/2014/main" id="{E166C1C5-62B6-452B-8037-D075366E7F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5B2A1F7-A5CE-4D96-B25D-AE479320A726}"/>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4182041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075DC04-4061-4945-92D1-B56B6653BEE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5E6CBF8-0BB9-4902-82A8-CC7DF51B400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862F0C5-4616-4787-BC04-A4841DE0184B}"/>
              </a:ext>
            </a:extLst>
          </p:cNvPr>
          <p:cNvSpPr>
            <a:spLocks noGrp="1"/>
          </p:cNvSpPr>
          <p:nvPr>
            <p:ph type="dt" sz="half" idx="10"/>
          </p:nvPr>
        </p:nvSpPr>
        <p:spPr/>
        <p:txBody>
          <a:bodyPr/>
          <a:lstStyle/>
          <a:p>
            <a:fld id="{C97A6AC7-E8A8-40CF-860E-092418A0F7B7}" type="datetimeFigureOut">
              <a:rPr kumimoji="1" lang="ja-JP" altLang="en-US" smtClean="0"/>
              <a:t>2026/4/24</a:t>
            </a:fld>
            <a:endParaRPr kumimoji="1" lang="ja-JP" altLang="en-US"/>
          </a:p>
        </p:txBody>
      </p:sp>
      <p:sp>
        <p:nvSpPr>
          <p:cNvPr id="5" name="フッター プレースホルダー 4">
            <a:extLst>
              <a:ext uri="{FF2B5EF4-FFF2-40B4-BE49-F238E27FC236}">
                <a16:creationId xmlns:a16="http://schemas.microsoft.com/office/drawing/2014/main" id="{2744AFB8-6B60-4FEA-B615-C60BE13922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4B81AE-7BDB-4307-882E-A3BCB03063A6}"/>
              </a:ext>
            </a:extLst>
          </p:cNvPr>
          <p:cNvSpPr>
            <a:spLocks noGrp="1"/>
          </p:cNvSpPr>
          <p:nvPr>
            <p:ph type="sldNum" sz="quarter" idx="12"/>
          </p:nvPr>
        </p:nvSpPr>
        <p:spPr/>
        <p:txBody>
          <a:body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1013529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1507FC3-4E54-48AF-8CD2-79EADC9E9A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17D497-9C63-4DF3-90D7-7AEB8A2739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E35F4CA-E511-448F-9A0A-405CE97C93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7A6AC7-E8A8-40CF-860E-092418A0F7B7}" type="datetimeFigureOut">
              <a:rPr kumimoji="1" lang="ja-JP" altLang="en-US" smtClean="0"/>
              <a:t>2026/4/24</a:t>
            </a:fld>
            <a:endParaRPr kumimoji="1" lang="ja-JP" altLang="en-US"/>
          </a:p>
        </p:txBody>
      </p:sp>
      <p:sp>
        <p:nvSpPr>
          <p:cNvPr id="5" name="フッター プレースホルダー 4">
            <a:extLst>
              <a:ext uri="{FF2B5EF4-FFF2-40B4-BE49-F238E27FC236}">
                <a16:creationId xmlns:a16="http://schemas.microsoft.com/office/drawing/2014/main" id="{54E517AC-1A1A-436C-8539-04154C9ABC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49583D5-F155-47C0-A8D7-97A394CBD2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FF6D0-4383-4176-ACD5-EC87257979EB}" type="slidenum">
              <a:rPr kumimoji="1" lang="ja-JP" altLang="en-US" smtClean="0"/>
              <a:t>‹#›</a:t>
            </a:fld>
            <a:endParaRPr kumimoji="1" lang="ja-JP" altLang="en-US"/>
          </a:p>
        </p:txBody>
      </p:sp>
    </p:spTree>
    <p:extLst>
      <p:ext uri="{BB962C8B-B14F-4D97-AF65-F5344CB8AC3E}">
        <p14:creationId xmlns:p14="http://schemas.microsoft.com/office/powerpoint/2010/main" val="676567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565C84-7385-44B9-B954-89CC6D2BD497}"/>
              </a:ext>
            </a:extLst>
          </p:cNvPr>
          <p:cNvSpPr txBox="1"/>
          <p:nvPr/>
        </p:nvSpPr>
        <p:spPr>
          <a:xfrm>
            <a:off x="0" y="0"/>
            <a:ext cx="4314092" cy="707886"/>
          </a:xfrm>
          <a:prstGeom prst="rect">
            <a:avLst/>
          </a:prstGeom>
          <a:noFill/>
        </p:spPr>
        <p:txBody>
          <a:bodyPr wrap="square" rtlCol="0">
            <a:spAutoFit/>
          </a:bodyPr>
          <a:lstStyle/>
          <a:p>
            <a:r>
              <a:rPr kumimoji="1" lang="ja-JP" altLang="en-US" sz="4000" b="1" dirty="0"/>
              <a:t>ゲームルール</a:t>
            </a:r>
          </a:p>
        </p:txBody>
      </p:sp>
      <p:sp>
        <p:nvSpPr>
          <p:cNvPr id="2" name="テキスト ボックス 1">
            <a:extLst>
              <a:ext uri="{FF2B5EF4-FFF2-40B4-BE49-F238E27FC236}">
                <a16:creationId xmlns:a16="http://schemas.microsoft.com/office/drawing/2014/main" id="{A0872C1E-824F-47FE-8739-D756FF4D5AA7}"/>
              </a:ext>
            </a:extLst>
          </p:cNvPr>
          <p:cNvSpPr txBox="1"/>
          <p:nvPr/>
        </p:nvSpPr>
        <p:spPr>
          <a:xfrm>
            <a:off x="0" y="707886"/>
            <a:ext cx="9217588" cy="1477328"/>
          </a:xfrm>
          <a:prstGeom prst="rect">
            <a:avLst/>
          </a:prstGeom>
          <a:noFill/>
        </p:spPr>
        <p:txBody>
          <a:bodyPr wrap="none" rtlCol="0">
            <a:spAutoFit/>
          </a:bodyPr>
          <a:lstStyle/>
          <a:p>
            <a:r>
              <a:rPr kumimoji="1" lang="ja-JP" altLang="en-US" b="1" dirty="0"/>
              <a:t>・最初は</a:t>
            </a:r>
            <a:r>
              <a:rPr kumimoji="1" lang="en-US" altLang="ja-JP" b="1" dirty="0"/>
              <a:t>3</a:t>
            </a:r>
            <a:r>
              <a:rPr kumimoji="1" lang="ja-JP" altLang="en-US" b="1" dirty="0"/>
              <a:t>機、死んだらマイナス値まで進み、やり直しはない</a:t>
            </a:r>
            <a:endParaRPr kumimoji="1" lang="en-US" altLang="ja-JP" b="1" dirty="0"/>
          </a:p>
          <a:p>
            <a:r>
              <a:rPr lang="ja-JP" altLang="en-US" b="1" dirty="0"/>
              <a:t>・ステージ中間とか難しいギミック後にセーブポイント</a:t>
            </a:r>
            <a:endParaRPr lang="en-US" altLang="ja-JP" b="1" dirty="0"/>
          </a:p>
          <a:p>
            <a:r>
              <a:rPr kumimoji="1" lang="ja-JP" altLang="en-US" b="1" dirty="0"/>
              <a:t>・敵やトラップに当たったら即死</a:t>
            </a:r>
            <a:endParaRPr kumimoji="1" lang="en-US" altLang="ja-JP" b="1" dirty="0"/>
          </a:p>
          <a:p>
            <a:r>
              <a:rPr lang="ja-JP" altLang="en-US" b="1" dirty="0"/>
              <a:t>・ゴールに着いたら次のステージへ</a:t>
            </a:r>
            <a:endParaRPr lang="en-US" altLang="ja-JP" b="1" dirty="0"/>
          </a:p>
          <a:p>
            <a:r>
              <a:rPr lang="ja-JP" altLang="en-US" b="1" dirty="0"/>
              <a:t>・プレイヤーが死ぬと</a:t>
            </a:r>
            <a:r>
              <a:rPr lang="en-US" altLang="ja-JP" b="1" dirty="0"/>
              <a:t>GAME OVER</a:t>
            </a:r>
            <a:r>
              <a:rPr lang="ja-JP" altLang="en-US" b="1" dirty="0"/>
              <a:t>の文字が出てコンティニューとタイトルへ</a:t>
            </a:r>
            <a:r>
              <a:rPr lang="ja-JP" altLang="en-US" b="1"/>
              <a:t>が選べる</a:t>
            </a:r>
            <a:endParaRPr lang="en-US" altLang="ja-JP" b="1" dirty="0"/>
          </a:p>
        </p:txBody>
      </p:sp>
    </p:spTree>
    <p:extLst>
      <p:ext uri="{BB962C8B-B14F-4D97-AF65-F5344CB8AC3E}">
        <p14:creationId xmlns:p14="http://schemas.microsoft.com/office/powerpoint/2010/main" val="3669105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565C84-7385-44B9-B954-89CC6D2BD497}"/>
              </a:ext>
            </a:extLst>
          </p:cNvPr>
          <p:cNvSpPr txBox="1"/>
          <p:nvPr/>
        </p:nvSpPr>
        <p:spPr>
          <a:xfrm>
            <a:off x="0" y="0"/>
            <a:ext cx="4314092" cy="707886"/>
          </a:xfrm>
          <a:prstGeom prst="rect">
            <a:avLst/>
          </a:prstGeom>
          <a:noFill/>
        </p:spPr>
        <p:txBody>
          <a:bodyPr wrap="square" rtlCol="0">
            <a:spAutoFit/>
          </a:bodyPr>
          <a:lstStyle/>
          <a:p>
            <a:r>
              <a:rPr kumimoji="1" lang="ja-JP" altLang="en-US" sz="4000" b="1" dirty="0"/>
              <a:t>ステージ</a:t>
            </a:r>
          </a:p>
        </p:txBody>
      </p:sp>
      <p:sp>
        <p:nvSpPr>
          <p:cNvPr id="2" name="テキスト ボックス 1">
            <a:extLst>
              <a:ext uri="{FF2B5EF4-FFF2-40B4-BE49-F238E27FC236}">
                <a16:creationId xmlns:a16="http://schemas.microsoft.com/office/drawing/2014/main" id="{251D874D-1B7B-4BFF-B2D2-CDCF0B9D665D}"/>
              </a:ext>
            </a:extLst>
          </p:cNvPr>
          <p:cNvSpPr txBox="1"/>
          <p:nvPr/>
        </p:nvSpPr>
        <p:spPr>
          <a:xfrm>
            <a:off x="0" y="707886"/>
            <a:ext cx="11264622" cy="1477328"/>
          </a:xfrm>
          <a:prstGeom prst="rect">
            <a:avLst/>
          </a:prstGeom>
          <a:noFill/>
        </p:spPr>
        <p:txBody>
          <a:bodyPr wrap="none" rtlCol="0">
            <a:spAutoFit/>
          </a:bodyPr>
          <a:lstStyle/>
          <a:p>
            <a:r>
              <a:rPr kumimoji="1" lang="ja-JP" altLang="en-US" b="1" dirty="0"/>
              <a:t>・３、４ステージ</a:t>
            </a:r>
            <a:endParaRPr kumimoji="1" lang="en-US" altLang="ja-JP" b="1" dirty="0"/>
          </a:p>
          <a:p>
            <a:r>
              <a:rPr lang="ja-JP" altLang="en-US" b="1" dirty="0"/>
              <a:t>・基本一本道ステージ、たまに道が分かれたり途切れてたり部屋があって謎解きしたり平地が広がったり</a:t>
            </a:r>
            <a:endParaRPr lang="en-US" altLang="ja-JP" b="1" dirty="0"/>
          </a:p>
          <a:p>
            <a:r>
              <a:rPr kumimoji="1" lang="ja-JP" altLang="en-US" b="1" dirty="0"/>
              <a:t>・ギミック大量、いじわる系</a:t>
            </a:r>
            <a:endParaRPr kumimoji="1" lang="en-US" altLang="ja-JP" b="1" dirty="0"/>
          </a:p>
          <a:p>
            <a:endParaRPr lang="en-US" altLang="ja-JP" b="1" dirty="0"/>
          </a:p>
          <a:p>
            <a:r>
              <a:rPr kumimoji="1" lang="ja-JP" altLang="en-US" b="1" dirty="0"/>
              <a:t>マップの雰囲気</a:t>
            </a:r>
          </a:p>
        </p:txBody>
      </p:sp>
    </p:spTree>
    <p:extLst>
      <p:ext uri="{BB962C8B-B14F-4D97-AF65-F5344CB8AC3E}">
        <p14:creationId xmlns:p14="http://schemas.microsoft.com/office/powerpoint/2010/main" val="1357125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565C84-7385-44B9-B954-89CC6D2BD497}"/>
              </a:ext>
            </a:extLst>
          </p:cNvPr>
          <p:cNvSpPr txBox="1"/>
          <p:nvPr/>
        </p:nvSpPr>
        <p:spPr>
          <a:xfrm>
            <a:off x="0" y="0"/>
            <a:ext cx="4314092" cy="707886"/>
          </a:xfrm>
          <a:prstGeom prst="rect">
            <a:avLst/>
          </a:prstGeom>
          <a:noFill/>
        </p:spPr>
        <p:txBody>
          <a:bodyPr wrap="square" rtlCol="0">
            <a:spAutoFit/>
          </a:bodyPr>
          <a:lstStyle/>
          <a:p>
            <a:r>
              <a:rPr kumimoji="1" lang="ja-JP" altLang="en-US" sz="4000" b="1" dirty="0"/>
              <a:t>ギミック</a:t>
            </a:r>
          </a:p>
        </p:txBody>
      </p:sp>
      <p:sp>
        <p:nvSpPr>
          <p:cNvPr id="2" name="テキスト ボックス 1">
            <a:extLst>
              <a:ext uri="{FF2B5EF4-FFF2-40B4-BE49-F238E27FC236}">
                <a16:creationId xmlns:a16="http://schemas.microsoft.com/office/drawing/2014/main" id="{FBEB7D27-FCFD-4060-A20C-3FDB817C855E}"/>
              </a:ext>
            </a:extLst>
          </p:cNvPr>
          <p:cNvSpPr txBox="1"/>
          <p:nvPr/>
        </p:nvSpPr>
        <p:spPr>
          <a:xfrm>
            <a:off x="0" y="707886"/>
            <a:ext cx="9671538" cy="5355312"/>
          </a:xfrm>
          <a:prstGeom prst="rect">
            <a:avLst/>
          </a:prstGeom>
          <a:noFill/>
        </p:spPr>
        <p:txBody>
          <a:bodyPr wrap="square" rtlCol="0">
            <a:spAutoFit/>
          </a:bodyPr>
          <a:lstStyle/>
          <a:p>
            <a:r>
              <a:rPr kumimoji="1" lang="ja-JP" altLang="en-US" b="1" dirty="0"/>
              <a:t>ギミック</a:t>
            </a:r>
            <a:endParaRPr kumimoji="1" lang="en-US" altLang="ja-JP" b="1" dirty="0"/>
          </a:p>
          <a:p>
            <a:r>
              <a:rPr lang="ja-JP" altLang="en-US" b="1" dirty="0"/>
              <a:t>・</a:t>
            </a:r>
            <a:endParaRPr lang="en-US" altLang="ja-JP" b="1" dirty="0"/>
          </a:p>
          <a:p>
            <a:r>
              <a:rPr kumimoji="1" lang="ja-JP" altLang="en-US" b="1" dirty="0"/>
              <a:t>・</a:t>
            </a:r>
            <a:endParaRPr kumimoji="1" lang="en-US" altLang="ja-JP" b="1" dirty="0"/>
          </a:p>
          <a:p>
            <a:r>
              <a:rPr lang="ja-JP" altLang="en-US" b="1" dirty="0"/>
              <a:t>・</a:t>
            </a:r>
            <a:endParaRPr lang="en-US" altLang="ja-JP" b="1" dirty="0"/>
          </a:p>
          <a:p>
            <a:r>
              <a:rPr kumimoji="1" lang="ja-JP" altLang="en-US" b="1" dirty="0"/>
              <a:t>・</a:t>
            </a:r>
            <a:endParaRPr kumimoji="1" lang="en-US" altLang="ja-JP" b="1" dirty="0"/>
          </a:p>
          <a:p>
            <a:r>
              <a:rPr lang="ja-JP" altLang="en-US" b="1" dirty="0"/>
              <a:t>・</a:t>
            </a:r>
            <a:endParaRPr lang="en-US" altLang="ja-JP" b="1" dirty="0"/>
          </a:p>
          <a:p>
            <a:r>
              <a:rPr kumimoji="1" lang="ja-JP" altLang="en-US" b="1" dirty="0"/>
              <a:t>・</a:t>
            </a:r>
            <a:endParaRPr kumimoji="1" lang="en-US" altLang="ja-JP" b="1" dirty="0"/>
          </a:p>
          <a:p>
            <a:endParaRPr kumimoji="1" lang="en-US" altLang="ja-JP" b="1" dirty="0"/>
          </a:p>
          <a:p>
            <a:endParaRPr kumimoji="1" lang="en-US" altLang="ja-JP" b="1" dirty="0"/>
          </a:p>
          <a:p>
            <a:r>
              <a:rPr lang="ja-JP" altLang="en-US" b="1" dirty="0"/>
              <a:t>トラップ</a:t>
            </a:r>
            <a:endParaRPr lang="en-US" altLang="ja-JP" b="1" dirty="0"/>
          </a:p>
          <a:p>
            <a:r>
              <a:rPr kumimoji="1" lang="ja-JP" altLang="en-US" b="1" dirty="0"/>
              <a:t>・ジャンプするところに透明ブロック　頭ぶつける的な</a:t>
            </a:r>
            <a:endParaRPr lang="en-US" altLang="ja-JP" b="1" dirty="0"/>
          </a:p>
          <a:p>
            <a:r>
              <a:rPr lang="ja-JP" altLang="en-US" b="1" dirty="0"/>
              <a:t>・バネに乗ったら頭上に棘</a:t>
            </a:r>
            <a:endParaRPr lang="en-US" altLang="ja-JP" b="1" dirty="0"/>
          </a:p>
          <a:p>
            <a:r>
              <a:rPr lang="ja-JP" altLang="en-US" b="1" dirty="0"/>
              <a:t>・ジャンプ強要、上塞ぐ　透明ブロック、足元のブロックが下がっていずれ落下死</a:t>
            </a:r>
            <a:endParaRPr lang="en-US" altLang="ja-JP" b="1" dirty="0"/>
          </a:p>
          <a:p>
            <a:r>
              <a:rPr kumimoji="1" lang="ja-JP" altLang="en-US" b="1" dirty="0"/>
              <a:t>・走ったら止まれない床</a:t>
            </a:r>
            <a:endParaRPr kumimoji="1" lang="en-US" altLang="ja-JP" b="1" dirty="0"/>
          </a:p>
          <a:p>
            <a:r>
              <a:rPr lang="ja-JP" altLang="en-US" b="1" dirty="0"/>
              <a:t>・パワーアップアイテムと思ったら即死アイテム</a:t>
            </a:r>
            <a:endParaRPr lang="en-US" altLang="ja-JP" b="1" dirty="0"/>
          </a:p>
          <a:p>
            <a:r>
              <a:rPr kumimoji="1" lang="ja-JP" altLang="en-US" b="1" dirty="0"/>
              <a:t>・床が急に落ちる</a:t>
            </a:r>
            <a:endParaRPr kumimoji="1" lang="en-US" altLang="ja-JP" b="1" dirty="0"/>
          </a:p>
          <a:p>
            <a:r>
              <a:rPr lang="ja-JP" altLang="en-US" b="1" dirty="0"/>
              <a:t>・後ろからでかい岩が追いかけてくる　走って逃げてるとこに別のギミック</a:t>
            </a:r>
            <a:endParaRPr lang="en-US" altLang="ja-JP" b="1" dirty="0"/>
          </a:p>
          <a:p>
            <a:r>
              <a:rPr lang="ja-JP" altLang="en-US" b="1" dirty="0"/>
              <a:t>・セーブが逃げる</a:t>
            </a:r>
            <a:endParaRPr lang="en-US" altLang="ja-JP" b="1" dirty="0"/>
          </a:p>
          <a:p>
            <a:r>
              <a:rPr lang="ja-JP" altLang="en-US" b="1" dirty="0"/>
              <a:t>・凹みに入ったら透明ブロックで閉じ込められる</a:t>
            </a:r>
            <a:endParaRPr lang="en-US" altLang="ja-JP" b="1" dirty="0"/>
          </a:p>
        </p:txBody>
      </p:sp>
    </p:spTree>
    <p:extLst>
      <p:ext uri="{BB962C8B-B14F-4D97-AF65-F5344CB8AC3E}">
        <p14:creationId xmlns:p14="http://schemas.microsoft.com/office/powerpoint/2010/main" val="2721486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565C84-7385-44B9-B954-89CC6D2BD497}"/>
              </a:ext>
            </a:extLst>
          </p:cNvPr>
          <p:cNvSpPr txBox="1"/>
          <p:nvPr/>
        </p:nvSpPr>
        <p:spPr>
          <a:xfrm>
            <a:off x="0" y="0"/>
            <a:ext cx="4314092" cy="707886"/>
          </a:xfrm>
          <a:prstGeom prst="rect">
            <a:avLst/>
          </a:prstGeom>
          <a:noFill/>
        </p:spPr>
        <p:txBody>
          <a:bodyPr wrap="square" rtlCol="0">
            <a:spAutoFit/>
          </a:bodyPr>
          <a:lstStyle/>
          <a:p>
            <a:r>
              <a:rPr kumimoji="1" lang="ja-JP" altLang="en-US" sz="4000" b="1" dirty="0"/>
              <a:t>敵</a:t>
            </a:r>
          </a:p>
        </p:txBody>
      </p:sp>
      <p:sp>
        <p:nvSpPr>
          <p:cNvPr id="2" name="テキスト ボックス 1">
            <a:extLst>
              <a:ext uri="{FF2B5EF4-FFF2-40B4-BE49-F238E27FC236}">
                <a16:creationId xmlns:a16="http://schemas.microsoft.com/office/drawing/2014/main" id="{0726B64E-A985-440C-B2B9-4022824DC069}"/>
              </a:ext>
            </a:extLst>
          </p:cNvPr>
          <p:cNvSpPr txBox="1"/>
          <p:nvPr/>
        </p:nvSpPr>
        <p:spPr>
          <a:xfrm>
            <a:off x="0" y="707886"/>
            <a:ext cx="11570677" cy="923330"/>
          </a:xfrm>
          <a:prstGeom prst="rect">
            <a:avLst/>
          </a:prstGeom>
          <a:noFill/>
        </p:spPr>
        <p:txBody>
          <a:bodyPr wrap="square" rtlCol="0">
            <a:spAutoFit/>
          </a:bodyPr>
          <a:lstStyle/>
          <a:p>
            <a:r>
              <a:rPr kumimoji="1" lang="ja-JP" altLang="en-US" b="1" dirty="0"/>
              <a:t>・基本、上から踏んだら倒せる</a:t>
            </a:r>
            <a:endParaRPr kumimoji="1" lang="en-US" altLang="ja-JP" b="1" dirty="0"/>
          </a:p>
          <a:p>
            <a:r>
              <a:rPr lang="ja-JP" altLang="en-US" b="1" dirty="0"/>
              <a:t>・プレイヤー死亡でリスポーン時に復活</a:t>
            </a:r>
            <a:endParaRPr lang="en-US" altLang="ja-JP" b="1" dirty="0"/>
          </a:p>
          <a:p>
            <a:r>
              <a:rPr kumimoji="1" lang="ja-JP" altLang="en-US" b="1" dirty="0"/>
              <a:t>・敵がプレイヤーを倒すと吹き出しで何かコメント</a:t>
            </a:r>
          </a:p>
        </p:txBody>
      </p:sp>
    </p:spTree>
    <p:extLst>
      <p:ext uri="{BB962C8B-B14F-4D97-AF65-F5344CB8AC3E}">
        <p14:creationId xmlns:p14="http://schemas.microsoft.com/office/powerpoint/2010/main" val="3483823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565C84-7385-44B9-B954-89CC6D2BD497}"/>
              </a:ext>
            </a:extLst>
          </p:cNvPr>
          <p:cNvSpPr txBox="1"/>
          <p:nvPr/>
        </p:nvSpPr>
        <p:spPr>
          <a:xfrm>
            <a:off x="0" y="0"/>
            <a:ext cx="4314092" cy="707886"/>
          </a:xfrm>
          <a:prstGeom prst="rect">
            <a:avLst/>
          </a:prstGeom>
          <a:noFill/>
        </p:spPr>
        <p:txBody>
          <a:bodyPr wrap="square" rtlCol="0">
            <a:spAutoFit/>
          </a:bodyPr>
          <a:lstStyle/>
          <a:p>
            <a:r>
              <a:rPr kumimoji="1" lang="ja-JP" altLang="en-US" sz="4000" b="1" dirty="0"/>
              <a:t>敵</a:t>
            </a:r>
            <a:r>
              <a:rPr lang="ja-JP" altLang="en-US" sz="4000" b="1" dirty="0"/>
              <a:t>の種類</a:t>
            </a:r>
            <a:endParaRPr kumimoji="1" lang="en-US" altLang="ja-JP" sz="4000" b="1" dirty="0"/>
          </a:p>
        </p:txBody>
      </p:sp>
      <p:sp>
        <p:nvSpPr>
          <p:cNvPr id="2" name="テキスト ボックス 1">
            <a:extLst>
              <a:ext uri="{FF2B5EF4-FFF2-40B4-BE49-F238E27FC236}">
                <a16:creationId xmlns:a16="http://schemas.microsoft.com/office/drawing/2014/main" id="{708768DC-67D3-405A-9DF0-C0616A53B2C5}"/>
              </a:ext>
            </a:extLst>
          </p:cNvPr>
          <p:cNvSpPr txBox="1"/>
          <p:nvPr/>
        </p:nvSpPr>
        <p:spPr>
          <a:xfrm>
            <a:off x="1" y="707886"/>
            <a:ext cx="4138246" cy="5632311"/>
          </a:xfrm>
          <a:prstGeom prst="rect">
            <a:avLst/>
          </a:prstGeom>
          <a:noFill/>
        </p:spPr>
        <p:txBody>
          <a:bodyPr wrap="square" rtlCol="0">
            <a:spAutoFit/>
          </a:bodyPr>
          <a:lstStyle/>
          <a:p>
            <a:r>
              <a:rPr lang="ja-JP" altLang="en-US" b="1" dirty="0"/>
              <a:t>通常敵</a:t>
            </a:r>
            <a:endParaRPr lang="en-US" altLang="ja-JP" b="1" dirty="0"/>
          </a:p>
          <a:p>
            <a:r>
              <a:rPr kumimoji="1" lang="ja-JP" altLang="en-US" b="1" dirty="0"/>
              <a:t>・真っすぐ歩いてくる</a:t>
            </a:r>
            <a:endParaRPr kumimoji="1" lang="en-US" altLang="ja-JP" b="1" dirty="0"/>
          </a:p>
          <a:p>
            <a:r>
              <a:rPr lang="ja-JP" altLang="en-US" b="1" dirty="0"/>
              <a:t>・当たると即死</a:t>
            </a:r>
            <a:endParaRPr lang="en-US" altLang="ja-JP" b="1" dirty="0"/>
          </a:p>
          <a:p>
            <a:r>
              <a:rPr kumimoji="1" lang="ja-JP" altLang="en-US" b="1" dirty="0"/>
              <a:t>・踏んだら倒せる</a:t>
            </a:r>
            <a:endParaRPr lang="en-US" altLang="ja-JP" b="1" dirty="0"/>
          </a:p>
          <a:p>
            <a:endParaRPr lang="en-US" altLang="ja-JP" b="1" dirty="0"/>
          </a:p>
          <a:p>
            <a:r>
              <a:rPr lang="ja-JP" altLang="en-US" b="1" dirty="0"/>
              <a:t>ジャンプ敵</a:t>
            </a:r>
            <a:endParaRPr lang="en-US" altLang="ja-JP" b="1" dirty="0"/>
          </a:p>
          <a:p>
            <a:r>
              <a:rPr kumimoji="1" lang="ja-JP" altLang="en-US" b="1" dirty="0"/>
              <a:t>・真っすぐ歩いてくる</a:t>
            </a:r>
            <a:endParaRPr kumimoji="1" lang="en-US" altLang="ja-JP" b="1" dirty="0"/>
          </a:p>
          <a:p>
            <a:r>
              <a:rPr lang="ja-JP" altLang="en-US" b="1" dirty="0"/>
              <a:t>・当たると即死</a:t>
            </a:r>
            <a:endParaRPr lang="en-US" altLang="ja-JP" b="1" dirty="0"/>
          </a:p>
          <a:p>
            <a:r>
              <a:rPr kumimoji="1" lang="ja-JP" altLang="en-US" b="1" dirty="0"/>
              <a:t>・踏んだら倒せる</a:t>
            </a:r>
          </a:p>
          <a:p>
            <a:r>
              <a:rPr lang="ja-JP" altLang="en-US" b="1" dirty="0">
                <a:solidFill>
                  <a:srgbClr val="FF0000"/>
                </a:solidFill>
              </a:rPr>
              <a:t>・プレイヤーに合わせてジャンプ</a:t>
            </a:r>
            <a:endParaRPr lang="en-US" altLang="ja-JP" b="1" dirty="0">
              <a:solidFill>
                <a:srgbClr val="FF0000"/>
              </a:solidFill>
            </a:endParaRPr>
          </a:p>
          <a:p>
            <a:endParaRPr lang="en-US" altLang="ja-JP" b="1" dirty="0"/>
          </a:p>
          <a:p>
            <a:r>
              <a:rPr lang="ja-JP" altLang="en-US" b="1" dirty="0"/>
              <a:t>棘敵</a:t>
            </a:r>
            <a:endParaRPr lang="en-US" altLang="ja-JP" b="1" dirty="0"/>
          </a:p>
          <a:p>
            <a:r>
              <a:rPr kumimoji="1" lang="ja-JP" altLang="en-US" b="1" dirty="0"/>
              <a:t>・真っすぐ歩いてくる</a:t>
            </a:r>
            <a:endParaRPr kumimoji="1" lang="en-US" altLang="ja-JP" b="1" dirty="0"/>
          </a:p>
          <a:p>
            <a:r>
              <a:rPr lang="ja-JP" altLang="en-US" b="1" dirty="0"/>
              <a:t>・当たると即死</a:t>
            </a:r>
            <a:endParaRPr lang="en-US" altLang="ja-JP" b="1" dirty="0"/>
          </a:p>
          <a:p>
            <a:r>
              <a:rPr kumimoji="1" lang="ja-JP" altLang="en-US" b="1" dirty="0">
                <a:solidFill>
                  <a:srgbClr val="FF0000"/>
                </a:solidFill>
              </a:rPr>
              <a:t>・倒せない</a:t>
            </a:r>
          </a:p>
          <a:p>
            <a:r>
              <a:rPr lang="ja-JP" altLang="en-US" b="1" dirty="0"/>
              <a:t>・フェイントあり</a:t>
            </a:r>
            <a:endParaRPr lang="en-US" altLang="ja-JP" b="1" dirty="0"/>
          </a:p>
          <a:p>
            <a:endParaRPr lang="en-US" altLang="ja-JP" b="1" dirty="0"/>
          </a:p>
          <a:p>
            <a:r>
              <a:rPr lang="ja-JP" altLang="en-US" b="1" dirty="0"/>
              <a:t>化け敵</a:t>
            </a:r>
            <a:endParaRPr lang="en-US" altLang="ja-JP" b="1" dirty="0"/>
          </a:p>
          <a:p>
            <a:r>
              <a:rPr lang="ja-JP" altLang="en-US" b="1" dirty="0">
                <a:solidFill>
                  <a:srgbClr val="FF0000"/>
                </a:solidFill>
              </a:rPr>
              <a:t>・セーブに化けた敵</a:t>
            </a:r>
            <a:endParaRPr lang="en-US" altLang="ja-JP" b="1" dirty="0">
              <a:solidFill>
                <a:srgbClr val="FF0000"/>
              </a:solidFill>
            </a:endParaRPr>
          </a:p>
          <a:p>
            <a:r>
              <a:rPr lang="ja-JP" altLang="en-US" b="1" dirty="0">
                <a:solidFill>
                  <a:srgbClr val="FF0000"/>
                </a:solidFill>
              </a:rPr>
              <a:t>・セーブに触れた瞬間的になる</a:t>
            </a:r>
            <a:endParaRPr lang="en-US" altLang="ja-JP" b="1" dirty="0">
              <a:solidFill>
                <a:srgbClr val="FF0000"/>
              </a:solidFill>
            </a:endParaRPr>
          </a:p>
        </p:txBody>
      </p:sp>
      <p:sp>
        <p:nvSpPr>
          <p:cNvPr id="3" name="テキスト ボックス 2">
            <a:extLst>
              <a:ext uri="{FF2B5EF4-FFF2-40B4-BE49-F238E27FC236}">
                <a16:creationId xmlns:a16="http://schemas.microsoft.com/office/drawing/2014/main" id="{C3B8715F-B2CB-4ADA-9555-F76BF57733A7}"/>
              </a:ext>
            </a:extLst>
          </p:cNvPr>
          <p:cNvSpPr txBox="1"/>
          <p:nvPr/>
        </p:nvSpPr>
        <p:spPr>
          <a:xfrm>
            <a:off x="3985846" y="707886"/>
            <a:ext cx="5884984" cy="5355312"/>
          </a:xfrm>
          <a:prstGeom prst="rect">
            <a:avLst/>
          </a:prstGeom>
          <a:noFill/>
        </p:spPr>
        <p:txBody>
          <a:bodyPr wrap="square" rtlCol="0">
            <a:spAutoFit/>
          </a:bodyPr>
          <a:lstStyle/>
          <a:p>
            <a:r>
              <a:rPr kumimoji="1" lang="ja-JP" altLang="en-US" b="1" dirty="0"/>
              <a:t>突進敵</a:t>
            </a:r>
            <a:r>
              <a:rPr kumimoji="1" lang="en-US" altLang="ja-JP" b="1" dirty="0"/>
              <a:t>(</a:t>
            </a:r>
            <a:r>
              <a:rPr kumimoji="1" lang="ja-JP" altLang="en-US" b="1" dirty="0"/>
              <a:t>正面</a:t>
            </a:r>
            <a:r>
              <a:rPr kumimoji="1" lang="en-US" altLang="ja-JP" b="1" dirty="0"/>
              <a:t>)</a:t>
            </a:r>
          </a:p>
          <a:p>
            <a:r>
              <a:rPr lang="ja-JP" altLang="en-US" b="1" dirty="0"/>
              <a:t>・</a:t>
            </a:r>
            <a:r>
              <a:rPr kumimoji="1" lang="ja-JP" altLang="en-US" b="1" dirty="0"/>
              <a:t>真っすぐ歩いてくる</a:t>
            </a:r>
            <a:endParaRPr kumimoji="1" lang="en-US" altLang="ja-JP" b="1" dirty="0"/>
          </a:p>
          <a:p>
            <a:r>
              <a:rPr lang="ja-JP" altLang="en-US" b="1" dirty="0"/>
              <a:t>・当たると即死</a:t>
            </a:r>
            <a:endParaRPr lang="en-US" altLang="ja-JP" b="1" dirty="0"/>
          </a:p>
          <a:p>
            <a:r>
              <a:rPr kumimoji="1" lang="ja-JP" altLang="en-US" b="1" dirty="0">
                <a:solidFill>
                  <a:srgbClr val="FF0000"/>
                </a:solidFill>
              </a:rPr>
              <a:t>・一定範囲に入ると高速で突進</a:t>
            </a:r>
            <a:r>
              <a:rPr lang="ja-JP" altLang="en-US" b="1" dirty="0">
                <a:solidFill>
                  <a:srgbClr val="FF0000"/>
                </a:solidFill>
              </a:rPr>
              <a:t>、</a:t>
            </a:r>
            <a:r>
              <a:rPr kumimoji="1" lang="ja-JP" altLang="en-US" b="1" dirty="0">
                <a:solidFill>
                  <a:srgbClr val="FF0000"/>
                </a:solidFill>
              </a:rPr>
              <a:t>それまでは足が遅い</a:t>
            </a:r>
            <a:endParaRPr kumimoji="1" lang="en-US" altLang="ja-JP" b="1" dirty="0">
              <a:solidFill>
                <a:srgbClr val="FF0000"/>
              </a:solidFill>
            </a:endParaRPr>
          </a:p>
          <a:p>
            <a:endParaRPr lang="en-US" altLang="ja-JP" b="1" dirty="0"/>
          </a:p>
          <a:p>
            <a:r>
              <a:rPr kumimoji="1" lang="ja-JP" altLang="en-US" b="1" dirty="0"/>
              <a:t>落下敵</a:t>
            </a:r>
            <a:r>
              <a:rPr kumimoji="1" lang="en-US" altLang="ja-JP" b="1" dirty="0"/>
              <a:t>(</a:t>
            </a:r>
            <a:r>
              <a:rPr kumimoji="1" lang="ja-JP" altLang="en-US" b="1" dirty="0"/>
              <a:t>上</a:t>
            </a:r>
            <a:r>
              <a:rPr kumimoji="1" lang="en-US" altLang="ja-JP" b="1" dirty="0"/>
              <a:t>)</a:t>
            </a:r>
          </a:p>
          <a:p>
            <a:r>
              <a:rPr lang="ja-JP" altLang="en-US" b="1" dirty="0"/>
              <a:t>・当たると即死</a:t>
            </a:r>
            <a:endParaRPr lang="en-US" altLang="ja-JP" b="1" dirty="0"/>
          </a:p>
          <a:p>
            <a:r>
              <a:rPr lang="ja-JP" altLang="en-US" b="1" dirty="0">
                <a:solidFill>
                  <a:srgbClr val="FF0000"/>
                </a:solidFill>
              </a:rPr>
              <a:t>・上から降ってくる</a:t>
            </a:r>
            <a:endParaRPr lang="en-US" altLang="ja-JP" b="1" dirty="0">
              <a:solidFill>
                <a:srgbClr val="FF0000"/>
              </a:solidFill>
            </a:endParaRPr>
          </a:p>
          <a:p>
            <a:endParaRPr kumimoji="1" lang="en-US" altLang="ja-JP" b="1" dirty="0"/>
          </a:p>
          <a:p>
            <a:r>
              <a:rPr kumimoji="1" lang="ja-JP" altLang="en-US" b="1" dirty="0"/>
              <a:t>タケノコ敵</a:t>
            </a:r>
            <a:r>
              <a:rPr kumimoji="1" lang="en-US" altLang="ja-JP" b="1" dirty="0"/>
              <a:t>(</a:t>
            </a:r>
            <a:r>
              <a:rPr lang="ja-JP" altLang="en-US" b="1" dirty="0"/>
              <a:t>下</a:t>
            </a:r>
            <a:r>
              <a:rPr kumimoji="1" lang="en-US" altLang="ja-JP" b="1" dirty="0"/>
              <a:t>)</a:t>
            </a:r>
          </a:p>
          <a:p>
            <a:r>
              <a:rPr lang="ja-JP" altLang="en-US" b="1" dirty="0"/>
              <a:t>・当たると即死</a:t>
            </a:r>
            <a:endParaRPr lang="en-US" altLang="ja-JP" b="1" dirty="0"/>
          </a:p>
          <a:p>
            <a:r>
              <a:rPr kumimoji="1" lang="ja-JP" altLang="en-US" b="1" dirty="0">
                <a:solidFill>
                  <a:srgbClr val="FF0000"/>
                </a:solidFill>
              </a:rPr>
              <a:t>・近づくと下から生えてくる敵</a:t>
            </a:r>
            <a:endParaRPr kumimoji="1" lang="en-US" altLang="ja-JP" b="1" dirty="0">
              <a:solidFill>
                <a:srgbClr val="FF0000"/>
              </a:solidFill>
            </a:endParaRPr>
          </a:p>
          <a:p>
            <a:r>
              <a:rPr lang="ja-JP" altLang="en-US" b="1" dirty="0">
                <a:solidFill>
                  <a:srgbClr val="FF0000"/>
                </a:solidFill>
              </a:rPr>
              <a:t>・近づくと地面から生えた頭部が見える</a:t>
            </a:r>
            <a:endParaRPr lang="en-US" altLang="ja-JP" b="1" dirty="0">
              <a:solidFill>
                <a:srgbClr val="FF0000"/>
              </a:solidFill>
            </a:endParaRPr>
          </a:p>
          <a:p>
            <a:r>
              <a:rPr kumimoji="1" lang="ja-JP" altLang="en-US" b="1" dirty="0">
                <a:solidFill>
                  <a:srgbClr val="FF0000"/>
                </a:solidFill>
              </a:rPr>
              <a:t>・「こんにちは！」</a:t>
            </a:r>
            <a:endParaRPr kumimoji="1" lang="en-US" altLang="ja-JP" b="1" dirty="0">
              <a:solidFill>
                <a:srgbClr val="FF0000"/>
              </a:solidFill>
            </a:endParaRPr>
          </a:p>
          <a:p>
            <a:endParaRPr kumimoji="1" lang="en-US" altLang="ja-JP" b="1" dirty="0"/>
          </a:p>
          <a:p>
            <a:r>
              <a:rPr kumimoji="1" lang="ja-JP" altLang="en-US" b="1" dirty="0"/>
              <a:t>固定砲台敵</a:t>
            </a:r>
            <a:r>
              <a:rPr kumimoji="1" lang="en-US" altLang="ja-JP" b="1" dirty="0"/>
              <a:t>(</a:t>
            </a:r>
            <a:r>
              <a:rPr kumimoji="1" lang="ja-JP" altLang="en-US" b="1" dirty="0"/>
              <a:t>横</a:t>
            </a:r>
            <a:r>
              <a:rPr kumimoji="1" lang="en-US" altLang="ja-JP" b="1" dirty="0"/>
              <a:t>)</a:t>
            </a:r>
          </a:p>
          <a:p>
            <a:r>
              <a:rPr lang="ja-JP" altLang="en-US" b="1" dirty="0"/>
              <a:t>・当たると即死</a:t>
            </a:r>
            <a:endParaRPr lang="en-US" altLang="ja-JP" b="1" dirty="0"/>
          </a:p>
          <a:p>
            <a:r>
              <a:rPr lang="ja-JP" altLang="en-US" b="1" dirty="0"/>
              <a:t>・倒せない</a:t>
            </a:r>
            <a:endParaRPr kumimoji="1" lang="en-US" altLang="ja-JP" b="1" dirty="0"/>
          </a:p>
          <a:p>
            <a:r>
              <a:rPr lang="ja-JP" altLang="en-US" b="1" dirty="0">
                <a:solidFill>
                  <a:srgbClr val="FF0000"/>
                </a:solidFill>
              </a:rPr>
              <a:t>・横から撃ってくる</a:t>
            </a:r>
            <a:endParaRPr kumimoji="1" lang="ja-JP" altLang="en-US" b="1" dirty="0">
              <a:solidFill>
                <a:srgbClr val="FF0000"/>
              </a:solidFill>
            </a:endParaRPr>
          </a:p>
        </p:txBody>
      </p:sp>
    </p:spTree>
    <p:extLst>
      <p:ext uri="{BB962C8B-B14F-4D97-AF65-F5344CB8AC3E}">
        <p14:creationId xmlns:p14="http://schemas.microsoft.com/office/powerpoint/2010/main" val="1592192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565C84-7385-44B9-B954-89CC6D2BD497}"/>
              </a:ext>
            </a:extLst>
          </p:cNvPr>
          <p:cNvSpPr txBox="1"/>
          <p:nvPr/>
        </p:nvSpPr>
        <p:spPr>
          <a:xfrm>
            <a:off x="0" y="0"/>
            <a:ext cx="4314092" cy="707886"/>
          </a:xfrm>
          <a:prstGeom prst="rect">
            <a:avLst/>
          </a:prstGeom>
          <a:noFill/>
        </p:spPr>
        <p:txBody>
          <a:bodyPr wrap="square" rtlCol="0">
            <a:spAutoFit/>
          </a:bodyPr>
          <a:lstStyle/>
          <a:p>
            <a:r>
              <a:rPr kumimoji="1" lang="ja-JP" altLang="en-US" sz="4000" b="1" dirty="0"/>
              <a:t>操作</a:t>
            </a:r>
          </a:p>
        </p:txBody>
      </p:sp>
      <p:graphicFrame>
        <p:nvGraphicFramePr>
          <p:cNvPr id="5" name="表 5">
            <a:extLst>
              <a:ext uri="{FF2B5EF4-FFF2-40B4-BE49-F238E27FC236}">
                <a16:creationId xmlns:a16="http://schemas.microsoft.com/office/drawing/2014/main" id="{C8B33DEA-BB61-4FDC-B8AD-71A779D12428}"/>
              </a:ext>
            </a:extLst>
          </p:cNvPr>
          <p:cNvGraphicFramePr>
            <a:graphicFrameLocks noGrp="1"/>
          </p:cNvGraphicFramePr>
          <p:nvPr>
            <p:extLst>
              <p:ext uri="{D42A27DB-BD31-4B8C-83A1-F6EECF244321}">
                <p14:modId xmlns:p14="http://schemas.microsoft.com/office/powerpoint/2010/main" val="2471988743"/>
              </p:ext>
            </p:extLst>
          </p:nvPr>
        </p:nvGraphicFramePr>
        <p:xfrm>
          <a:off x="140677" y="707886"/>
          <a:ext cx="6096000" cy="2966720"/>
        </p:xfrm>
        <a:graphic>
          <a:graphicData uri="http://schemas.openxmlformats.org/drawingml/2006/table">
            <a:tbl>
              <a:tblPr firstRow="1" bandRow="1">
                <a:tableStyleId>{5C22544A-7EE6-4342-B048-85BDC9FD1C3A}</a:tableStyleId>
              </a:tblPr>
              <a:tblGrid>
                <a:gridCol w="2391508">
                  <a:extLst>
                    <a:ext uri="{9D8B030D-6E8A-4147-A177-3AD203B41FA5}">
                      <a16:colId xmlns:a16="http://schemas.microsoft.com/office/drawing/2014/main" val="1722957682"/>
                    </a:ext>
                  </a:extLst>
                </a:gridCol>
                <a:gridCol w="2192215">
                  <a:extLst>
                    <a:ext uri="{9D8B030D-6E8A-4147-A177-3AD203B41FA5}">
                      <a16:colId xmlns:a16="http://schemas.microsoft.com/office/drawing/2014/main" val="3749811187"/>
                    </a:ext>
                  </a:extLst>
                </a:gridCol>
                <a:gridCol w="1512277">
                  <a:extLst>
                    <a:ext uri="{9D8B030D-6E8A-4147-A177-3AD203B41FA5}">
                      <a16:colId xmlns:a16="http://schemas.microsoft.com/office/drawing/2014/main" val="2317011177"/>
                    </a:ext>
                  </a:extLst>
                </a:gridCol>
              </a:tblGrid>
              <a:tr h="370840">
                <a:tc>
                  <a:txBody>
                    <a:bodyPr/>
                    <a:lstStyle/>
                    <a:p>
                      <a:r>
                        <a:rPr kumimoji="1" lang="ja-JP" altLang="en-US" dirty="0"/>
                        <a:t>キーボード＋マウス</a:t>
                      </a:r>
                    </a:p>
                  </a:txBody>
                  <a:tcPr/>
                </a:tc>
                <a:tc>
                  <a:txBody>
                    <a:bodyPr/>
                    <a:lstStyle/>
                    <a:p>
                      <a:r>
                        <a:rPr kumimoji="1" lang="ja-JP" altLang="en-US" dirty="0"/>
                        <a:t>コントローラー</a:t>
                      </a:r>
                    </a:p>
                  </a:txBody>
                  <a:tcPr/>
                </a:tc>
                <a:tc>
                  <a:txBody>
                    <a:bodyPr/>
                    <a:lstStyle/>
                    <a:p>
                      <a:endParaRPr kumimoji="1" lang="ja-JP" altLang="en-US"/>
                    </a:p>
                  </a:txBody>
                  <a:tcPr/>
                </a:tc>
                <a:extLst>
                  <a:ext uri="{0D108BD9-81ED-4DB2-BD59-A6C34878D82A}">
                    <a16:rowId xmlns:a16="http://schemas.microsoft.com/office/drawing/2014/main" val="3961784624"/>
                  </a:ext>
                </a:extLst>
              </a:tr>
              <a:tr h="370840">
                <a:tc>
                  <a:txBody>
                    <a:bodyPr/>
                    <a:lstStyle/>
                    <a:p>
                      <a:r>
                        <a:rPr kumimoji="1" lang="en-US" altLang="ja-JP" dirty="0"/>
                        <a:t>W</a:t>
                      </a:r>
                      <a:endParaRPr kumimoji="1" lang="ja-JP" altLang="en-US" dirty="0"/>
                    </a:p>
                  </a:txBody>
                  <a:tcPr/>
                </a:tc>
                <a:tc>
                  <a:txBody>
                    <a:bodyPr/>
                    <a:lstStyle/>
                    <a:p>
                      <a:r>
                        <a:rPr kumimoji="1" lang="ja-JP" altLang="en-US" dirty="0"/>
                        <a:t>十字上</a:t>
                      </a:r>
                    </a:p>
                  </a:txBody>
                  <a:tcPr/>
                </a:tc>
                <a:tc>
                  <a:txBody>
                    <a:bodyPr/>
                    <a:lstStyle/>
                    <a:p>
                      <a:r>
                        <a:rPr kumimoji="1" lang="ja-JP" altLang="en-US" dirty="0"/>
                        <a:t>正面を歩く</a:t>
                      </a:r>
                    </a:p>
                  </a:txBody>
                  <a:tcPr/>
                </a:tc>
                <a:extLst>
                  <a:ext uri="{0D108BD9-81ED-4DB2-BD59-A6C34878D82A}">
                    <a16:rowId xmlns:a16="http://schemas.microsoft.com/office/drawing/2014/main" val="1599607474"/>
                  </a:ext>
                </a:extLst>
              </a:tr>
              <a:tr h="370840">
                <a:tc>
                  <a:txBody>
                    <a:bodyPr/>
                    <a:lstStyle/>
                    <a:p>
                      <a:r>
                        <a:rPr kumimoji="1" lang="en-US" altLang="ja-JP" dirty="0"/>
                        <a:t>D</a:t>
                      </a:r>
                      <a:endParaRPr kumimoji="1" lang="ja-JP" altLang="en-US" dirty="0"/>
                    </a:p>
                  </a:txBody>
                  <a:tcPr/>
                </a:tc>
                <a:tc>
                  <a:txBody>
                    <a:bodyPr/>
                    <a:lstStyle/>
                    <a:p>
                      <a:r>
                        <a:rPr kumimoji="1" lang="ja-JP" altLang="en-US" dirty="0"/>
                        <a:t>十字右</a:t>
                      </a:r>
                    </a:p>
                  </a:txBody>
                  <a:tcPr/>
                </a:tc>
                <a:tc>
                  <a:txBody>
                    <a:bodyPr/>
                    <a:lstStyle/>
                    <a:p>
                      <a:r>
                        <a:rPr kumimoji="1" lang="ja-JP" altLang="en-US" dirty="0"/>
                        <a:t>右に移動</a:t>
                      </a:r>
                    </a:p>
                  </a:txBody>
                  <a:tcPr/>
                </a:tc>
                <a:extLst>
                  <a:ext uri="{0D108BD9-81ED-4DB2-BD59-A6C34878D82A}">
                    <a16:rowId xmlns:a16="http://schemas.microsoft.com/office/drawing/2014/main" val="184517700"/>
                  </a:ext>
                </a:extLst>
              </a:tr>
              <a:tr h="370840">
                <a:tc>
                  <a:txBody>
                    <a:bodyPr/>
                    <a:lstStyle/>
                    <a:p>
                      <a:r>
                        <a:rPr kumimoji="1" lang="en-US" altLang="ja-JP" dirty="0"/>
                        <a:t>A</a:t>
                      </a:r>
                      <a:endParaRPr kumimoji="1" lang="ja-JP" altLang="en-US" dirty="0"/>
                    </a:p>
                  </a:txBody>
                  <a:tcPr/>
                </a:tc>
                <a:tc>
                  <a:txBody>
                    <a:bodyPr/>
                    <a:lstStyle/>
                    <a:p>
                      <a:r>
                        <a:rPr kumimoji="1" lang="ja-JP" altLang="en-US" dirty="0"/>
                        <a:t>十字左</a:t>
                      </a:r>
                    </a:p>
                  </a:txBody>
                  <a:tcPr/>
                </a:tc>
                <a:tc>
                  <a:txBody>
                    <a:bodyPr/>
                    <a:lstStyle/>
                    <a:p>
                      <a:r>
                        <a:rPr kumimoji="1" lang="ja-JP" altLang="en-US" dirty="0"/>
                        <a:t>左に移動</a:t>
                      </a:r>
                    </a:p>
                  </a:txBody>
                  <a:tcPr/>
                </a:tc>
                <a:extLst>
                  <a:ext uri="{0D108BD9-81ED-4DB2-BD59-A6C34878D82A}">
                    <a16:rowId xmlns:a16="http://schemas.microsoft.com/office/drawing/2014/main" val="3249581884"/>
                  </a:ext>
                </a:extLst>
              </a:tr>
              <a:tr h="370840">
                <a:tc>
                  <a:txBody>
                    <a:bodyPr/>
                    <a:lstStyle/>
                    <a:p>
                      <a:r>
                        <a:rPr kumimoji="1" lang="en-US" altLang="ja-JP" dirty="0"/>
                        <a:t>S</a:t>
                      </a:r>
                      <a:endParaRPr kumimoji="1" lang="ja-JP" altLang="en-US" dirty="0"/>
                    </a:p>
                  </a:txBody>
                  <a:tcPr/>
                </a:tc>
                <a:tc>
                  <a:txBody>
                    <a:bodyPr/>
                    <a:lstStyle/>
                    <a:p>
                      <a:r>
                        <a:rPr kumimoji="1" lang="ja-JP" altLang="en-US" dirty="0"/>
                        <a:t>十字下</a:t>
                      </a:r>
                    </a:p>
                  </a:txBody>
                  <a:tcPr/>
                </a:tc>
                <a:tc>
                  <a:txBody>
                    <a:bodyPr/>
                    <a:lstStyle/>
                    <a:p>
                      <a:r>
                        <a:rPr kumimoji="1" lang="ja-JP" altLang="en-US" dirty="0"/>
                        <a:t>下がる</a:t>
                      </a:r>
                    </a:p>
                  </a:txBody>
                  <a:tcPr/>
                </a:tc>
                <a:extLst>
                  <a:ext uri="{0D108BD9-81ED-4DB2-BD59-A6C34878D82A}">
                    <a16:rowId xmlns:a16="http://schemas.microsoft.com/office/drawing/2014/main" val="1253990780"/>
                  </a:ext>
                </a:extLst>
              </a:tr>
              <a:tr h="370840">
                <a:tc>
                  <a:txBody>
                    <a:bodyPr/>
                    <a:lstStyle/>
                    <a:p>
                      <a:r>
                        <a:rPr kumimoji="1" lang="en-US" altLang="ja-JP" dirty="0"/>
                        <a:t>Space</a:t>
                      </a:r>
                      <a:endParaRPr kumimoji="1" lang="ja-JP" altLang="en-US" dirty="0"/>
                    </a:p>
                  </a:txBody>
                  <a:tcPr/>
                </a:tc>
                <a:tc>
                  <a:txBody>
                    <a:bodyPr/>
                    <a:lstStyle/>
                    <a:p>
                      <a:r>
                        <a:rPr kumimoji="1" lang="en-US" altLang="ja-JP" dirty="0"/>
                        <a:t>B</a:t>
                      </a:r>
                      <a:endParaRPr kumimoji="1" lang="ja-JP" altLang="en-US" dirty="0"/>
                    </a:p>
                  </a:txBody>
                  <a:tcPr/>
                </a:tc>
                <a:tc>
                  <a:txBody>
                    <a:bodyPr/>
                    <a:lstStyle/>
                    <a:p>
                      <a:r>
                        <a:rPr kumimoji="1" lang="ja-JP" altLang="en-US" dirty="0"/>
                        <a:t>ジャンプ</a:t>
                      </a:r>
                    </a:p>
                  </a:txBody>
                  <a:tcPr/>
                </a:tc>
                <a:extLst>
                  <a:ext uri="{0D108BD9-81ED-4DB2-BD59-A6C34878D82A}">
                    <a16:rowId xmlns:a16="http://schemas.microsoft.com/office/drawing/2014/main" val="3968087738"/>
                  </a:ext>
                </a:extLst>
              </a:tr>
              <a:tr h="370840">
                <a:tc>
                  <a:txBody>
                    <a:bodyPr/>
                    <a:lstStyle/>
                    <a:p>
                      <a:r>
                        <a:rPr kumimoji="1" lang="en-US" altLang="ja-JP" dirty="0"/>
                        <a:t>Shift</a:t>
                      </a:r>
                      <a:r>
                        <a:rPr kumimoji="1" lang="ja-JP" altLang="en-US" dirty="0"/>
                        <a:t>＋</a:t>
                      </a:r>
                      <a:r>
                        <a:rPr kumimoji="1" lang="en-US" altLang="ja-JP" dirty="0"/>
                        <a:t>W,A,S,D</a:t>
                      </a:r>
                      <a:endParaRPr kumimoji="1" lang="ja-JP" altLang="en-US" dirty="0"/>
                    </a:p>
                  </a:txBody>
                  <a:tcPr/>
                </a:tc>
                <a:tc>
                  <a:txBody>
                    <a:bodyPr/>
                    <a:lstStyle/>
                    <a:p>
                      <a:r>
                        <a:rPr kumimoji="1" lang="en-US" altLang="ja-JP" dirty="0"/>
                        <a:t>X</a:t>
                      </a:r>
                      <a:r>
                        <a:rPr kumimoji="1" lang="ja-JP" altLang="en-US" dirty="0"/>
                        <a:t>＋十字</a:t>
                      </a:r>
                    </a:p>
                  </a:txBody>
                  <a:tcPr/>
                </a:tc>
                <a:tc>
                  <a:txBody>
                    <a:bodyPr/>
                    <a:lstStyle/>
                    <a:p>
                      <a:r>
                        <a:rPr kumimoji="1" lang="ja-JP" altLang="en-US" dirty="0"/>
                        <a:t>ダッシュ</a:t>
                      </a:r>
                    </a:p>
                  </a:txBody>
                  <a:tcPr/>
                </a:tc>
                <a:extLst>
                  <a:ext uri="{0D108BD9-81ED-4DB2-BD59-A6C34878D82A}">
                    <a16:rowId xmlns:a16="http://schemas.microsoft.com/office/drawing/2014/main" val="1746802993"/>
                  </a:ext>
                </a:extLst>
              </a:tr>
              <a:tr h="370840">
                <a:tc>
                  <a:txBody>
                    <a:bodyPr/>
                    <a:lstStyle/>
                    <a:p>
                      <a:r>
                        <a:rPr kumimoji="1" lang="ja-JP" altLang="en-US" dirty="0"/>
                        <a:t>マウス</a:t>
                      </a:r>
                    </a:p>
                  </a:txBody>
                  <a:tcPr/>
                </a:tc>
                <a:tc>
                  <a:txBody>
                    <a:bodyPr/>
                    <a:lstStyle/>
                    <a:p>
                      <a:r>
                        <a:rPr kumimoji="1" lang="ja-JP" altLang="en-US" dirty="0"/>
                        <a:t>右スティック</a:t>
                      </a:r>
                    </a:p>
                  </a:txBody>
                  <a:tcPr/>
                </a:tc>
                <a:tc>
                  <a:txBody>
                    <a:bodyPr/>
                    <a:lstStyle/>
                    <a:p>
                      <a:r>
                        <a:rPr kumimoji="1" lang="ja-JP" altLang="en-US" dirty="0"/>
                        <a:t>視点移動</a:t>
                      </a:r>
                    </a:p>
                  </a:txBody>
                  <a:tcPr/>
                </a:tc>
                <a:extLst>
                  <a:ext uri="{0D108BD9-81ED-4DB2-BD59-A6C34878D82A}">
                    <a16:rowId xmlns:a16="http://schemas.microsoft.com/office/drawing/2014/main" val="979079081"/>
                  </a:ext>
                </a:extLst>
              </a:tr>
            </a:tbl>
          </a:graphicData>
        </a:graphic>
      </p:graphicFrame>
    </p:spTree>
    <p:extLst>
      <p:ext uri="{BB962C8B-B14F-4D97-AF65-F5344CB8AC3E}">
        <p14:creationId xmlns:p14="http://schemas.microsoft.com/office/powerpoint/2010/main" val="1894869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565C84-7385-44B9-B954-89CC6D2BD497}"/>
              </a:ext>
            </a:extLst>
          </p:cNvPr>
          <p:cNvSpPr txBox="1"/>
          <p:nvPr/>
        </p:nvSpPr>
        <p:spPr>
          <a:xfrm>
            <a:off x="0" y="0"/>
            <a:ext cx="4314092" cy="707886"/>
          </a:xfrm>
          <a:prstGeom prst="rect">
            <a:avLst/>
          </a:prstGeom>
          <a:noFill/>
        </p:spPr>
        <p:txBody>
          <a:bodyPr wrap="square" rtlCol="0">
            <a:spAutoFit/>
          </a:bodyPr>
          <a:lstStyle/>
          <a:p>
            <a:r>
              <a:rPr lang="ja-JP" altLang="en-US" sz="4000" b="1" dirty="0"/>
              <a:t>タイトル</a:t>
            </a:r>
            <a:endParaRPr kumimoji="1" lang="ja-JP" altLang="en-US" sz="4000" b="1" dirty="0"/>
          </a:p>
        </p:txBody>
      </p:sp>
      <p:sp>
        <p:nvSpPr>
          <p:cNvPr id="2" name="テキスト ボックス 1">
            <a:extLst>
              <a:ext uri="{FF2B5EF4-FFF2-40B4-BE49-F238E27FC236}">
                <a16:creationId xmlns:a16="http://schemas.microsoft.com/office/drawing/2014/main" id="{DCD8CA1D-83C0-4A3A-8CC3-477CFDB34E2B}"/>
              </a:ext>
            </a:extLst>
          </p:cNvPr>
          <p:cNvSpPr txBox="1"/>
          <p:nvPr/>
        </p:nvSpPr>
        <p:spPr>
          <a:xfrm>
            <a:off x="466895" y="1278449"/>
            <a:ext cx="11258210" cy="1323439"/>
          </a:xfrm>
          <a:prstGeom prst="rect">
            <a:avLst/>
          </a:prstGeom>
          <a:noFill/>
        </p:spPr>
        <p:txBody>
          <a:bodyPr wrap="none" rtlCol="0">
            <a:spAutoFit/>
          </a:bodyPr>
          <a:lstStyle/>
          <a:p>
            <a:r>
              <a:rPr lang="ja-JP" altLang="en-US" sz="8000" b="1" dirty="0">
                <a:latin typeface="游明朝 Light" panose="02020300000000000000" pitchFamily="18" charset="-128"/>
                <a:ea typeface="游明朝 Light" panose="02020300000000000000" pitchFamily="18" charset="-128"/>
              </a:rPr>
              <a:t>開発者は嘲笑っています</a:t>
            </a:r>
            <a:endParaRPr kumimoji="1" lang="ja-JP" altLang="en-US" sz="8000" b="1" dirty="0">
              <a:latin typeface="游明朝 Light" panose="02020300000000000000" pitchFamily="18" charset="-128"/>
              <a:ea typeface="游明朝 Light" panose="02020300000000000000" pitchFamily="18" charset="-128"/>
            </a:endParaRPr>
          </a:p>
        </p:txBody>
      </p:sp>
      <p:sp>
        <p:nvSpPr>
          <p:cNvPr id="5" name="テキスト ボックス 4">
            <a:extLst>
              <a:ext uri="{FF2B5EF4-FFF2-40B4-BE49-F238E27FC236}">
                <a16:creationId xmlns:a16="http://schemas.microsoft.com/office/drawing/2014/main" id="{A4F0C293-5BE9-4083-B0D0-04CC48D5DA50}"/>
              </a:ext>
            </a:extLst>
          </p:cNvPr>
          <p:cNvSpPr txBox="1"/>
          <p:nvPr/>
        </p:nvSpPr>
        <p:spPr>
          <a:xfrm>
            <a:off x="2368061" y="3563615"/>
            <a:ext cx="7186246" cy="1384995"/>
          </a:xfrm>
          <a:prstGeom prst="rect">
            <a:avLst/>
          </a:prstGeom>
          <a:noFill/>
        </p:spPr>
        <p:txBody>
          <a:bodyPr wrap="square" rtlCol="0">
            <a:spAutoFit/>
          </a:bodyPr>
          <a:lstStyle/>
          <a:p>
            <a:pPr algn="ctr"/>
            <a:r>
              <a:rPr kumimoji="1" lang="ja-JP" altLang="en-US" sz="2800" b="1" dirty="0"/>
              <a:t>➤初めから</a:t>
            </a:r>
            <a:endParaRPr kumimoji="1" lang="en-US" altLang="ja-JP" sz="2800" b="1" dirty="0"/>
          </a:p>
          <a:p>
            <a:pPr algn="ctr"/>
            <a:r>
              <a:rPr lang="ja-JP" altLang="en-US" sz="2800" b="1" dirty="0"/>
              <a:t>　続きから</a:t>
            </a:r>
            <a:endParaRPr lang="en-US" altLang="ja-JP" sz="2800" b="1" dirty="0"/>
          </a:p>
          <a:p>
            <a:pPr algn="ctr"/>
            <a:r>
              <a:rPr lang="ja-JP" altLang="en-US" sz="2800" b="1" dirty="0"/>
              <a:t>　諦める</a:t>
            </a:r>
            <a:endParaRPr lang="en-US" altLang="ja-JP" sz="2800" b="1" dirty="0"/>
          </a:p>
        </p:txBody>
      </p:sp>
    </p:spTree>
    <p:extLst>
      <p:ext uri="{BB962C8B-B14F-4D97-AF65-F5344CB8AC3E}">
        <p14:creationId xmlns:p14="http://schemas.microsoft.com/office/powerpoint/2010/main" val="991011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565C84-7385-44B9-B954-89CC6D2BD497}"/>
              </a:ext>
            </a:extLst>
          </p:cNvPr>
          <p:cNvSpPr txBox="1"/>
          <p:nvPr/>
        </p:nvSpPr>
        <p:spPr>
          <a:xfrm>
            <a:off x="0" y="0"/>
            <a:ext cx="4314092" cy="707886"/>
          </a:xfrm>
          <a:prstGeom prst="rect">
            <a:avLst/>
          </a:prstGeom>
          <a:noFill/>
        </p:spPr>
        <p:txBody>
          <a:bodyPr wrap="square" rtlCol="0">
            <a:spAutoFit/>
          </a:bodyPr>
          <a:lstStyle/>
          <a:p>
            <a:r>
              <a:rPr lang="ja-JP" altLang="en-US" sz="4000" b="1" dirty="0"/>
              <a:t>セーブ</a:t>
            </a:r>
            <a:r>
              <a:rPr lang="en-US" altLang="ja-JP" sz="4000" b="1" dirty="0"/>
              <a:t>/</a:t>
            </a:r>
            <a:r>
              <a:rPr lang="ja-JP" altLang="en-US" sz="4000" b="1" dirty="0"/>
              <a:t>ロード</a:t>
            </a:r>
            <a:endParaRPr kumimoji="1" lang="ja-JP" altLang="en-US" sz="4000" b="1" dirty="0"/>
          </a:p>
        </p:txBody>
      </p:sp>
      <p:sp>
        <p:nvSpPr>
          <p:cNvPr id="2" name="テキスト ボックス 1">
            <a:extLst>
              <a:ext uri="{FF2B5EF4-FFF2-40B4-BE49-F238E27FC236}">
                <a16:creationId xmlns:a16="http://schemas.microsoft.com/office/drawing/2014/main" id="{54324AEE-7332-44B4-B6BF-B8BB367768A5}"/>
              </a:ext>
            </a:extLst>
          </p:cNvPr>
          <p:cNvSpPr txBox="1"/>
          <p:nvPr/>
        </p:nvSpPr>
        <p:spPr>
          <a:xfrm>
            <a:off x="961292" y="1120676"/>
            <a:ext cx="3877985" cy="2308324"/>
          </a:xfrm>
          <a:prstGeom prst="rect">
            <a:avLst/>
          </a:prstGeom>
          <a:noFill/>
        </p:spPr>
        <p:txBody>
          <a:bodyPr wrap="none" rtlCol="0">
            <a:spAutoFit/>
          </a:bodyPr>
          <a:lstStyle/>
          <a:p>
            <a:r>
              <a:rPr kumimoji="1" lang="ja-JP" altLang="en-US" dirty="0"/>
              <a:t>ステージ画像　　　データ１　</a:t>
            </a:r>
            <a:endParaRPr kumimoji="1" lang="en-US" altLang="ja-JP" dirty="0"/>
          </a:p>
          <a:p>
            <a:r>
              <a:rPr lang="ja-JP" altLang="en-US" dirty="0"/>
              <a:t>　　　　　　　　　プレイ時間</a:t>
            </a:r>
            <a:endParaRPr kumimoji="1" lang="en-US" altLang="ja-JP" dirty="0"/>
          </a:p>
          <a:p>
            <a:endParaRPr lang="en-US" altLang="ja-JP" dirty="0"/>
          </a:p>
          <a:p>
            <a:r>
              <a:rPr kumimoji="1" lang="ja-JP" altLang="en-US" dirty="0"/>
              <a:t>ステージ画像　　　データ２</a:t>
            </a:r>
            <a:endParaRPr kumimoji="1" lang="en-US" altLang="ja-JP" dirty="0"/>
          </a:p>
          <a:p>
            <a:r>
              <a:rPr lang="ja-JP" altLang="en-US" dirty="0"/>
              <a:t>　　　　　　　　　プレイ時間</a:t>
            </a:r>
            <a:endParaRPr kumimoji="1" lang="en-US" altLang="ja-JP" dirty="0"/>
          </a:p>
          <a:p>
            <a:endParaRPr lang="en-US" altLang="ja-JP" dirty="0"/>
          </a:p>
          <a:p>
            <a:r>
              <a:rPr kumimoji="1" lang="ja-JP" altLang="en-US" dirty="0"/>
              <a:t>ステージ画像　　　データ３</a:t>
            </a:r>
            <a:endParaRPr kumimoji="1" lang="en-US" altLang="ja-JP" dirty="0"/>
          </a:p>
          <a:p>
            <a:r>
              <a:rPr lang="ja-JP" altLang="en-US" dirty="0"/>
              <a:t>　　　　　　　　　プレイ時間</a:t>
            </a:r>
            <a:r>
              <a:rPr kumimoji="1" lang="ja-JP" altLang="en-US" dirty="0"/>
              <a:t>　　</a:t>
            </a:r>
            <a:endParaRPr kumimoji="1" lang="en-US" altLang="ja-JP" dirty="0"/>
          </a:p>
        </p:txBody>
      </p:sp>
      <p:sp>
        <p:nvSpPr>
          <p:cNvPr id="3" name="正方形/長方形 2">
            <a:extLst>
              <a:ext uri="{FF2B5EF4-FFF2-40B4-BE49-F238E27FC236}">
                <a16:creationId xmlns:a16="http://schemas.microsoft.com/office/drawing/2014/main" id="{921D37CB-85E7-44E5-85CD-4A451D5F5459}"/>
              </a:ext>
            </a:extLst>
          </p:cNvPr>
          <p:cNvSpPr/>
          <p:nvPr/>
        </p:nvSpPr>
        <p:spPr>
          <a:xfrm>
            <a:off x="961292" y="984738"/>
            <a:ext cx="3434862" cy="8438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5" name="表 5">
            <a:extLst>
              <a:ext uri="{FF2B5EF4-FFF2-40B4-BE49-F238E27FC236}">
                <a16:creationId xmlns:a16="http://schemas.microsoft.com/office/drawing/2014/main" id="{AD32A1DD-F85A-4172-83D3-3E32F00A4CCD}"/>
              </a:ext>
            </a:extLst>
          </p:cNvPr>
          <p:cNvGraphicFramePr>
            <a:graphicFrameLocks noGrp="1"/>
          </p:cNvGraphicFramePr>
          <p:nvPr>
            <p:extLst>
              <p:ext uri="{D42A27DB-BD31-4B8C-83A1-F6EECF244321}">
                <p14:modId xmlns:p14="http://schemas.microsoft.com/office/powerpoint/2010/main" val="2272141265"/>
              </p:ext>
            </p:extLst>
          </p:nvPr>
        </p:nvGraphicFramePr>
        <p:xfrm>
          <a:off x="164125" y="3921370"/>
          <a:ext cx="10034953" cy="2763520"/>
        </p:xfrm>
        <a:graphic>
          <a:graphicData uri="http://schemas.openxmlformats.org/drawingml/2006/table">
            <a:tbl>
              <a:tblPr firstRow="1" bandRow="1">
                <a:tableStyleId>{5C22544A-7EE6-4342-B048-85BDC9FD1C3A}</a:tableStyleId>
              </a:tblPr>
              <a:tblGrid>
                <a:gridCol w="1482383">
                  <a:extLst>
                    <a:ext uri="{9D8B030D-6E8A-4147-A177-3AD203B41FA5}">
                      <a16:colId xmlns:a16="http://schemas.microsoft.com/office/drawing/2014/main" val="3465035323"/>
                    </a:ext>
                  </a:extLst>
                </a:gridCol>
                <a:gridCol w="8552570">
                  <a:extLst>
                    <a:ext uri="{9D8B030D-6E8A-4147-A177-3AD203B41FA5}">
                      <a16:colId xmlns:a16="http://schemas.microsoft.com/office/drawing/2014/main" val="557662264"/>
                    </a:ext>
                  </a:extLst>
                </a:gridCol>
              </a:tblGrid>
              <a:tr h="370840">
                <a:tc>
                  <a:txBody>
                    <a:bodyPr/>
                    <a:lstStyle/>
                    <a:p>
                      <a:r>
                        <a:rPr kumimoji="1" lang="ja-JP" altLang="en-US" dirty="0"/>
                        <a:t>詳細</a:t>
                      </a:r>
                    </a:p>
                  </a:txBody>
                  <a:tcPr/>
                </a:tc>
                <a:tc>
                  <a:txBody>
                    <a:bodyPr/>
                    <a:lstStyle/>
                    <a:p>
                      <a:endParaRPr kumimoji="1" lang="ja-JP" altLang="en-US"/>
                    </a:p>
                  </a:txBody>
                  <a:tcPr/>
                </a:tc>
                <a:extLst>
                  <a:ext uri="{0D108BD9-81ED-4DB2-BD59-A6C34878D82A}">
                    <a16:rowId xmlns:a16="http://schemas.microsoft.com/office/drawing/2014/main" val="2657141515"/>
                  </a:ext>
                </a:extLst>
              </a:tr>
              <a:tr h="370840">
                <a:tc>
                  <a:txBody>
                    <a:bodyPr/>
                    <a:lstStyle/>
                    <a:p>
                      <a:r>
                        <a:rPr kumimoji="1" lang="ja-JP" altLang="en-US" dirty="0"/>
                        <a:t>初めに</a:t>
                      </a:r>
                    </a:p>
                  </a:txBody>
                  <a:tcPr/>
                </a:tc>
                <a:tc>
                  <a:txBody>
                    <a:bodyPr/>
                    <a:lstStyle/>
                    <a:p>
                      <a:r>
                        <a:rPr kumimoji="1" lang="ja-JP" altLang="en-US" dirty="0"/>
                        <a:t>セーブデータは３つ</a:t>
                      </a:r>
                    </a:p>
                  </a:txBody>
                  <a:tcPr/>
                </a:tc>
                <a:extLst>
                  <a:ext uri="{0D108BD9-81ED-4DB2-BD59-A6C34878D82A}">
                    <a16:rowId xmlns:a16="http://schemas.microsoft.com/office/drawing/2014/main" val="1548201329"/>
                  </a:ext>
                </a:extLst>
              </a:tr>
              <a:tr h="370840">
                <a:tc>
                  <a:txBody>
                    <a:bodyPr/>
                    <a:lstStyle/>
                    <a:p>
                      <a:r>
                        <a:rPr kumimoji="1" lang="ja-JP" altLang="en-US" dirty="0"/>
                        <a:t>データ</a:t>
                      </a:r>
                    </a:p>
                  </a:txBody>
                  <a:tcPr/>
                </a:tc>
                <a:tc>
                  <a:txBody>
                    <a:bodyPr/>
                    <a:lstStyle/>
                    <a:p>
                      <a:r>
                        <a:rPr kumimoji="1" lang="ja-JP" altLang="en-US" dirty="0"/>
                        <a:t>ステージ画像　セーブしたステージに対応する画像</a:t>
                      </a:r>
                      <a:endParaRPr kumimoji="1" lang="en-US" altLang="ja-JP" dirty="0"/>
                    </a:p>
                    <a:p>
                      <a:r>
                        <a:rPr kumimoji="1" lang="ja-JP" altLang="en-US" dirty="0"/>
                        <a:t>プレイ時間　　プレイ時間を</a:t>
                      </a:r>
                      <a:r>
                        <a:rPr kumimoji="1" lang="en-US" altLang="ja-JP" dirty="0" err="1"/>
                        <a:t>hhh:mm:ss</a:t>
                      </a:r>
                      <a:r>
                        <a:rPr kumimoji="1" lang="ja-JP" altLang="en-US" dirty="0"/>
                        <a:t>で表示</a:t>
                      </a:r>
                    </a:p>
                  </a:txBody>
                  <a:tcPr/>
                </a:tc>
                <a:extLst>
                  <a:ext uri="{0D108BD9-81ED-4DB2-BD59-A6C34878D82A}">
                    <a16:rowId xmlns:a16="http://schemas.microsoft.com/office/drawing/2014/main" val="451491008"/>
                  </a:ext>
                </a:extLst>
              </a:tr>
              <a:tr h="370840">
                <a:tc>
                  <a:txBody>
                    <a:bodyPr/>
                    <a:lstStyle/>
                    <a:p>
                      <a:r>
                        <a:rPr kumimoji="1" lang="ja-JP" altLang="en-US" dirty="0"/>
                        <a:t>背景</a:t>
                      </a:r>
                    </a:p>
                  </a:txBody>
                  <a:tcPr/>
                </a:tc>
                <a:tc>
                  <a:txBody>
                    <a:bodyPr/>
                    <a:lstStyle/>
                    <a:p>
                      <a:r>
                        <a:rPr kumimoji="1" lang="ja-JP" altLang="en-US" dirty="0"/>
                        <a:t>全体の背景画像とデータ枠用の画像を用意</a:t>
                      </a:r>
                    </a:p>
                  </a:txBody>
                  <a:tcPr/>
                </a:tc>
                <a:extLst>
                  <a:ext uri="{0D108BD9-81ED-4DB2-BD59-A6C34878D82A}">
                    <a16:rowId xmlns:a16="http://schemas.microsoft.com/office/drawing/2014/main" val="1849127481"/>
                  </a:ext>
                </a:extLst>
              </a:tr>
              <a:tr h="370840">
                <a:tc>
                  <a:txBody>
                    <a:bodyPr/>
                    <a:lstStyle/>
                    <a:p>
                      <a:r>
                        <a:rPr kumimoji="1" lang="ja-JP" altLang="en-US" dirty="0"/>
                        <a:t>遷移</a:t>
                      </a:r>
                    </a:p>
                  </a:txBody>
                  <a:tcPr/>
                </a:tc>
                <a:tc>
                  <a:txBody>
                    <a:bodyPr/>
                    <a:lstStyle/>
                    <a:p>
                      <a:r>
                        <a:rPr kumimoji="1" lang="ja-JP" altLang="en-US" dirty="0"/>
                        <a:t>セーブ画面として開いているとき、キャンセルで元の画面に戻る</a:t>
                      </a:r>
                      <a:endParaRPr kumimoji="1" lang="en-US" altLang="ja-JP" dirty="0"/>
                    </a:p>
                    <a:p>
                      <a:r>
                        <a:rPr kumimoji="1" lang="ja-JP" altLang="en-US" dirty="0"/>
                        <a:t>ロード画面として開いているとき、データを選択したらロードしてプレイ画面へ</a:t>
                      </a:r>
                    </a:p>
                  </a:txBody>
                  <a:tcPr/>
                </a:tc>
                <a:extLst>
                  <a:ext uri="{0D108BD9-81ED-4DB2-BD59-A6C34878D82A}">
                    <a16:rowId xmlns:a16="http://schemas.microsoft.com/office/drawing/2014/main" val="2996263043"/>
                  </a:ext>
                </a:extLst>
              </a:tr>
              <a:tr h="370840">
                <a:tc>
                  <a:txBody>
                    <a:bodyPr/>
                    <a:lstStyle/>
                    <a:p>
                      <a:r>
                        <a:rPr kumimoji="1" lang="ja-JP" altLang="en-US" dirty="0"/>
                        <a:t>その他</a:t>
                      </a:r>
                    </a:p>
                  </a:txBody>
                  <a:tcPr/>
                </a:tc>
                <a:tc>
                  <a:txBody>
                    <a:bodyPr/>
                    <a:lstStyle/>
                    <a:p>
                      <a:r>
                        <a:rPr kumimoji="1" lang="ja-JP" altLang="en-US" dirty="0"/>
                        <a:t>ほかの画面は裏側に戻しておく</a:t>
                      </a:r>
                    </a:p>
                  </a:txBody>
                  <a:tcPr/>
                </a:tc>
                <a:extLst>
                  <a:ext uri="{0D108BD9-81ED-4DB2-BD59-A6C34878D82A}">
                    <a16:rowId xmlns:a16="http://schemas.microsoft.com/office/drawing/2014/main" val="3849617504"/>
                  </a:ext>
                </a:extLst>
              </a:tr>
            </a:tbl>
          </a:graphicData>
        </a:graphic>
      </p:graphicFrame>
    </p:spTree>
    <p:extLst>
      <p:ext uri="{BB962C8B-B14F-4D97-AF65-F5344CB8AC3E}">
        <p14:creationId xmlns:p14="http://schemas.microsoft.com/office/powerpoint/2010/main" val="3018648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565C84-7385-44B9-B954-89CC6D2BD497}"/>
              </a:ext>
            </a:extLst>
          </p:cNvPr>
          <p:cNvSpPr txBox="1"/>
          <p:nvPr/>
        </p:nvSpPr>
        <p:spPr>
          <a:xfrm>
            <a:off x="0" y="0"/>
            <a:ext cx="4314092" cy="707886"/>
          </a:xfrm>
          <a:prstGeom prst="rect">
            <a:avLst/>
          </a:prstGeom>
          <a:noFill/>
        </p:spPr>
        <p:txBody>
          <a:bodyPr wrap="square" rtlCol="0">
            <a:spAutoFit/>
          </a:bodyPr>
          <a:lstStyle/>
          <a:p>
            <a:r>
              <a:rPr lang="ja-JP" altLang="en-US" sz="4000" b="1" dirty="0"/>
              <a:t>オプション</a:t>
            </a:r>
            <a:endParaRPr kumimoji="1" lang="ja-JP" altLang="en-US" sz="4000" b="1" dirty="0"/>
          </a:p>
        </p:txBody>
      </p:sp>
      <p:sp>
        <p:nvSpPr>
          <p:cNvPr id="2" name="テキスト ボックス 1">
            <a:extLst>
              <a:ext uri="{FF2B5EF4-FFF2-40B4-BE49-F238E27FC236}">
                <a16:creationId xmlns:a16="http://schemas.microsoft.com/office/drawing/2014/main" id="{7716C3FD-CA32-4F26-AB12-D9FB007D9DAD}"/>
              </a:ext>
            </a:extLst>
          </p:cNvPr>
          <p:cNvSpPr txBox="1"/>
          <p:nvPr/>
        </p:nvSpPr>
        <p:spPr>
          <a:xfrm>
            <a:off x="2128878" y="1195754"/>
            <a:ext cx="2185214" cy="1200329"/>
          </a:xfrm>
          <a:prstGeom prst="rect">
            <a:avLst/>
          </a:prstGeom>
          <a:noFill/>
        </p:spPr>
        <p:txBody>
          <a:bodyPr wrap="none" rtlCol="0">
            <a:spAutoFit/>
          </a:bodyPr>
          <a:lstStyle/>
          <a:p>
            <a:r>
              <a:rPr kumimoji="1" lang="ja-JP" altLang="en-US" dirty="0"/>
              <a:t>　　オプション</a:t>
            </a:r>
            <a:endParaRPr kumimoji="1" lang="en-US" altLang="ja-JP" dirty="0"/>
          </a:p>
          <a:p>
            <a:endParaRPr lang="en-US" altLang="ja-JP" dirty="0"/>
          </a:p>
          <a:p>
            <a:r>
              <a:rPr kumimoji="1" lang="en-US" altLang="ja-JP" dirty="0"/>
              <a:t>BGM</a:t>
            </a:r>
            <a:r>
              <a:rPr kumimoji="1" lang="ja-JP" altLang="en-US" dirty="0"/>
              <a:t>　</a:t>
            </a:r>
            <a:r>
              <a:rPr lang="ja-JP" altLang="en-US" dirty="0"/>
              <a:t> ■■■□□</a:t>
            </a:r>
            <a:endParaRPr kumimoji="1" lang="en-US" altLang="ja-JP" dirty="0"/>
          </a:p>
          <a:p>
            <a:r>
              <a:rPr lang="en-US" altLang="ja-JP" dirty="0"/>
              <a:t>  SE</a:t>
            </a:r>
            <a:r>
              <a:rPr lang="ja-JP" altLang="en-US" dirty="0"/>
              <a:t>　   ■■■■□</a:t>
            </a:r>
            <a:endParaRPr kumimoji="1" lang="ja-JP" altLang="en-US" dirty="0"/>
          </a:p>
        </p:txBody>
      </p:sp>
      <p:graphicFrame>
        <p:nvGraphicFramePr>
          <p:cNvPr id="5" name="表 5">
            <a:extLst>
              <a:ext uri="{FF2B5EF4-FFF2-40B4-BE49-F238E27FC236}">
                <a16:creationId xmlns:a16="http://schemas.microsoft.com/office/drawing/2014/main" id="{30FEAD7C-0C40-405D-9D52-E7BD7A2A370D}"/>
              </a:ext>
            </a:extLst>
          </p:cNvPr>
          <p:cNvGraphicFramePr>
            <a:graphicFrameLocks noGrp="1"/>
          </p:cNvGraphicFramePr>
          <p:nvPr>
            <p:extLst>
              <p:ext uri="{D42A27DB-BD31-4B8C-83A1-F6EECF244321}">
                <p14:modId xmlns:p14="http://schemas.microsoft.com/office/powerpoint/2010/main" val="2957382113"/>
              </p:ext>
            </p:extLst>
          </p:nvPr>
        </p:nvGraphicFramePr>
        <p:xfrm>
          <a:off x="246186" y="3264877"/>
          <a:ext cx="10034953" cy="2494280"/>
        </p:xfrm>
        <a:graphic>
          <a:graphicData uri="http://schemas.openxmlformats.org/drawingml/2006/table">
            <a:tbl>
              <a:tblPr firstRow="1" bandRow="1">
                <a:tableStyleId>{5C22544A-7EE6-4342-B048-85BDC9FD1C3A}</a:tableStyleId>
              </a:tblPr>
              <a:tblGrid>
                <a:gridCol w="1482383">
                  <a:extLst>
                    <a:ext uri="{9D8B030D-6E8A-4147-A177-3AD203B41FA5}">
                      <a16:colId xmlns:a16="http://schemas.microsoft.com/office/drawing/2014/main" val="3465035323"/>
                    </a:ext>
                  </a:extLst>
                </a:gridCol>
                <a:gridCol w="8552570">
                  <a:extLst>
                    <a:ext uri="{9D8B030D-6E8A-4147-A177-3AD203B41FA5}">
                      <a16:colId xmlns:a16="http://schemas.microsoft.com/office/drawing/2014/main" val="557662264"/>
                    </a:ext>
                  </a:extLst>
                </a:gridCol>
              </a:tblGrid>
              <a:tr h="370840">
                <a:tc>
                  <a:txBody>
                    <a:bodyPr/>
                    <a:lstStyle/>
                    <a:p>
                      <a:r>
                        <a:rPr kumimoji="1" lang="ja-JP" altLang="en-US" dirty="0"/>
                        <a:t>詳細</a:t>
                      </a:r>
                    </a:p>
                  </a:txBody>
                  <a:tcPr/>
                </a:tc>
                <a:tc>
                  <a:txBody>
                    <a:bodyPr/>
                    <a:lstStyle/>
                    <a:p>
                      <a:endParaRPr kumimoji="1" lang="ja-JP" altLang="en-US"/>
                    </a:p>
                  </a:txBody>
                  <a:tcPr/>
                </a:tc>
                <a:extLst>
                  <a:ext uri="{0D108BD9-81ED-4DB2-BD59-A6C34878D82A}">
                    <a16:rowId xmlns:a16="http://schemas.microsoft.com/office/drawing/2014/main" val="2657141515"/>
                  </a:ext>
                </a:extLst>
              </a:tr>
              <a:tr h="370840">
                <a:tc>
                  <a:txBody>
                    <a:bodyPr/>
                    <a:lstStyle/>
                    <a:p>
                      <a:r>
                        <a:rPr kumimoji="1" lang="ja-JP" altLang="en-US" dirty="0"/>
                        <a:t>初めに</a:t>
                      </a:r>
                    </a:p>
                  </a:txBody>
                  <a:tcPr/>
                </a:tc>
                <a:tc>
                  <a:txBody>
                    <a:bodyPr/>
                    <a:lstStyle/>
                    <a:p>
                      <a:r>
                        <a:rPr kumimoji="1" lang="en-US" altLang="ja-JP" dirty="0"/>
                        <a:t>5</a:t>
                      </a:r>
                      <a:r>
                        <a:rPr kumimoji="1" lang="ja-JP" altLang="en-US" dirty="0"/>
                        <a:t>段階で調節</a:t>
                      </a:r>
                    </a:p>
                  </a:txBody>
                  <a:tcPr/>
                </a:tc>
                <a:extLst>
                  <a:ext uri="{0D108BD9-81ED-4DB2-BD59-A6C34878D82A}">
                    <a16:rowId xmlns:a16="http://schemas.microsoft.com/office/drawing/2014/main" val="1548201329"/>
                  </a:ext>
                </a:extLst>
              </a:tr>
              <a:tr h="370840">
                <a:tc>
                  <a:txBody>
                    <a:bodyPr/>
                    <a:lstStyle/>
                    <a:p>
                      <a:r>
                        <a:rPr kumimoji="1" lang="ja-JP" altLang="en-US" dirty="0"/>
                        <a:t>データ</a:t>
                      </a:r>
                    </a:p>
                  </a:txBody>
                  <a:tcPr/>
                </a:tc>
                <a:tc>
                  <a:txBody>
                    <a:bodyPr/>
                    <a:lstStyle/>
                    <a:p>
                      <a:r>
                        <a:rPr kumimoji="1" lang="ja-JP" altLang="en-US" dirty="0"/>
                        <a:t>選択中の項目にカーソル表示</a:t>
                      </a:r>
                    </a:p>
                  </a:txBody>
                  <a:tcPr/>
                </a:tc>
                <a:extLst>
                  <a:ext uri="{0D108BD9-81ED-4DB2-BD59-A6C34878D82A}">
                    <a16:rowId xmlns:a16="http://schemas.microsoft.com/office/drawing/2014/main" val="451491008"/>
                  </a:ext>
                </a:extLst>
              </a:tr>
              <a:tr h="370840">
                <a:tc>
                  <a:txBody>
                    <a:bodyPr/>
                    <a:lstStyle/>
                    <a:p>
                      <a:r>
                        <a:rPr kumimoji="1" lang="ja-JP" altLang="en-US" dirty="0"/>
                        <a:t>背景</a:t>
                      </a:r>
                    </a:p>
                  </a:txBody>
                  <a:tcPr/>
                </a:tc>
                <a:tc>
                  <a:txBody>
                    <a:bodyPr/>
                    <a:lstStyle/>
                    <a:p>
                      <a:r>
                        <a:rPr kumimoji="1" lang="ja-JP" altLang="en-US" dirty="0"/>
                        <a:t>自由</a:t>
                      </a:r>
                    </a:p>
                  </a:txBody>
                  <a:tcPr/>
                </a:tc>
                <a:extLst>
                  <a:ext uri="{0D108BD9-81ED-4DB2-BD59-A6C34878D82A}">
                    <a16:rowId xmlns:a16="http://schemas.microsoft.com/office/drawing/2014/main" val="1849127481"/>
                  </a:ext>
                </a:extLst>
              </a:tr>
              <a:tr h="370840">
                <a:tc>
                  <a:txBody>
                    <a:bodyPr/>
                    <a:lstStyle/>
                    <a:p>
                      <a:r>
                        <a:rPr kumimoji="1" lang="ja-JP" altLang="en-US" dirty="0"/>
                        <a:t>遷移</a:t>
                      </a:r>
                    </a:p>
                  </a:txBody>
                  <a:tcPr/>
                </a:tc>
                <a:tc>
                  <a:txBody>
                    <a:bodyPr/>
                    <a:lstStyle/>
                    <a:p>
                      <a:r>
                        <a:rPr kumimoji="1" lang="ja-JP" altLang="en-US" dirty="0"/>
                        <a:t>キャンセルボタンが押された際に設定が変わっていたら</a:t>
                      </a:r>
                      <a:endParaRPr kumimoji="1" lang="en-US" altLang="ja-JP" dirty="0"/>
                    </a:p>
                    <a:p>
                      <a:r>
                        <a:rPr kumimoji="1" lang="ja-JP" altLang="en-US" dirty="0"/>
                        <a:t>設定を保存するか確認して前の画面に戻る</a:t>
                      </a:r>
                    </a:p>
                  </a:txBody>
                  <a:tcPr/>
                </a:tc>
                <a:extLst>
                  <a:ext uri="{0D108BD9-81ED-4DB2-BD59-A6C34878D82A}">
                    <a16:rowId xmlns:a16="http://schemas.microsoft.com/office/drawing/2014/main" val="2996263043"/>
                  </a:ext>
                </a:extLst>
              </a:tr>
              <a:tr h="370840">
                <a:tc>
                  <a:txBody>
                    <a:bodyPr/>
                    <a:lstStyle/>
                    <a:p>
                      <a:r>
                        <a:rPr kumimoji="1" lang="ja-JP" altLang="en-US" dirty="0"/>
                        <a:t>その他</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前の画面は裏側に戻しておく</a:t>
                      </a:r>
                    </a:p>
                  </a:txBody>
                  <a:tcPr/>
                </a:tc>
                <a:extLst>
                  <a:ext uri="{0D108BD9-81ED-4DB2-BD59-A6C34878D82A}">
                    <a16:rowId xmlns:a16="http://schemas.microsoft.com/office/drawing/2014/main" val="3849617504"/>
                  </a:ext>
                </a:extLst>
              </a:tr>
            </a:tbl>
          </a:graphicData>
        </a:graphic>
      </p:graphicFrame>
    </p:spTree>
    <p:extLst>
      <p:ext uri="{BB962C8B-B14F-4D97-AF65-F5344CB8AC3E}">
        <p14:creationId xmlns:p14="http://schemas.microsoft.com/office/powerpoint/2010/main" val="122948731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615</Words>
  <Application>Microsoft Office PowerPoint</Application>
  <PresentationFormat>ワイド画面</PresentationFormat>
  <Paragraphs>144</Paragraphs>
  <Slides>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游ゴシック</vt:lpstr>
      <vt:lpstr>游ゴシック Light</vt:lpstr>
      <vt:lpstr>游明朝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馬場　碧生</dc:creator>
  <cp:lastModifiedBy>馬場　碧生</cp:lastModifiedBy>
  <cp:revision>17</cp:revision>
  <dcterms:created xsi:type="dcterms:W3CDTF">2026-04-23T01:17:45Z</dcterms:created>
  <dcterms:modified xsi:type="dcterms:W3CDTF">2026-04-24T05:13:06Z</dcterms:modified>
</cp:coreProperties>
</file>